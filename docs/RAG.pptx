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  <p:sldMasterId id="2147483672" r:id="rId3"/>
  </p:sldMasterIdLst>
  <p:notesMasterIdLst>
    <p:notesMasterId r:id="rId19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1" d="100"/>
          <a:sy n="101" d="100"/>
        </p:scale>
        <p:origin x="136" y="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" Type="http://schemas.openxmlformats.org/officeDocument/2006/relationships/slideMaster" Target="slideMasters/slideMaster3.xml"/><Relationship Id="rId21" Type="http://schemas.openxmlformats.org/officeDocument/2006/relationships/viewProps" Target="viewProp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tableStyles" Target="tableStyles.xml"/><Relationship Id="rId10" Type="http://schemas.openxmlformats.org/officeDocument/2006/relationships/slide" Target="slides/slide7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49360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幻灯片图像占位符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altLang="zh-CN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幻灯片图像占位符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/>
          </a:p>
        </p:txBody>
      </p:sp>
      <p:sp>
        <p:nvSpPr>
          <p:cNvPr id="12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幻灯片图像占位符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/>
          </a:p>
          <a:p>
            <a:pPr lvl="1"/>
            <a:r>
              <a:rPr lang="en-US"/>
              <a:t>Second level</a:t>
            </a:r>
            <a:endParaRPr/>
          </a:p>
          <a:p>
            <a:pPr lvl="2"/>
            <a:r>
              <a:rPr lang="en-US"/>
              <a:t>Third level</a:t>
            </a:r>
            <a:endParaRPr/>
          </a:p>
          <a:p>
            <a:pPr lvl="3"/>
            <a:r>
              <a:rPr lang="en-US"/>
              <a:t>Fourth level</a:t>
            </a:r>
            <a:endParaRPr/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10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1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/>
          </a:p>
        </p:txBody>
      </p:sp>
      <p:sp>
        <p:nvSpPr>
          <p:cNvPr id="2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2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7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/>
          </a:p>
          <a:p>
            <a:pPr lvl="1"/>
            <a:r>
              <a:rPr lang="en-US"/>
              <a:t>Second level</a:t>
            </a:r>
            <a:endParaRPr/>
          </a:p>
          <a:p>
            <a:pPr lvl="2"/>
            <a:r>
              <a:rPr lang="en-US"/>
              <a:t>Third level</a:t>
            </a:r>
            <a:endParaRPr/>
          </a:p>
          <a:p>
            <a:pPr lvl="3"/>
            <a:r>
              <a:rPr lang="en-US"/>
              <a:t>Fourth level</a:t>
            </a:r>
            <a:endParaRPr/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28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/>
          </a:p>
          <a:p>
            <a:pPr lvl="1"/>
            <a:r>
              <a:rPr lang="en-US"/>
              <a:t>Second level</a:t>
            </a:r>
            <a:endParaRPr/>
          </a:p>
          <a:p>
            <a:pPr lvl="2"/>
            <a:r>
              <a:rPr lang="en-US"/>
              <a:t>Third level</a:t>
            </a:r>
            <a:endParaRPr/>
          </a:p>
          <a:p>
            <a:pPr lvl="3"/>
            <a:r>
              <a:rPr lang="en-US"/>
              <a:t>Fourth level</a:t>
            </a:r>
            <a:endParaRPr/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29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30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1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4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/>
          </a:p>
        </p:txBody>
      </p:sp>
      <p:sp>
        <p:nvSpPr>
          <p:cNvPr id="35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/>
          </a:p>
          <a:p>
            <a:pPr lvl="1"/>
            <a:r>
              <a:rPr lang="en-US"/>
              <a:t>Second level</a:t>
            </a:r>
            <a:endParaRPr/>
          </a:p>
          <a:p>
            <a:pPr lvl="2"/>
            <a:r>
              <a:rPr lang="en-US"/>
              <a:t>Third level</a:t>
            </a:r>
            <a:endParaRPr/>
          </a:p>
          <a:p>
            <a:pPr lvl="3"/>
            <a:r>
              <a:rPr lang="en-US"/>
              <a:t>Fourth level</a:t>
            </a:r>
            <a:endParaRPr/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36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/>
          </a:p>
        </p:txBody>
      </p:sp>
      <p:sp>
        <p:nvSpPr>
          <p:cNvPr id="37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/>
          </a:p>
          <a:p>
            <a:pPr lvl="1"/>
            <a:r>
              <a:rPr lang="en-US"/>
              <a:t>Second level</a:t>
            </a:r>
            <a:endParaRPr/>
          </a:p>
          <a:p>
            <a:pPr lvl="2"/>
            <a:r>
              <a:rPr lang="en-US"/>
              <a:t>Third level</a:t>
            </a:r>
            <a:endParaRPr/>
          </a:p>
          <a:p>
            <a:pPr lvl="3"/>
            <a:r>
              <a:rPr lang="en-US"/>
              <a:t>Fourth level</a:t>
            </a:r>
            <a:endParaRPr/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38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39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0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4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48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9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52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/>
          </a:p>
          <a:p>
            <a:pPr lvl="1"/>
            <a:r>
              <a:rPr lang="en-US"/>
              <a:t>Second level</a:t>
            </a:r>
            <a:endParaRPr/>
          </a:p>
          <a:p>
            <a:pPr lvl="2"/>
            <a:r>
              <a:rPr lang="en-US"/>
              <a:t>Third level</a:t>
            </a:r>
            <a:endParaRPr/>
          </a:p>
          <a:p>
            <a:pPr lvl="3"/>
            <a:r>
              <a:rPr lang="en-US"/>
              <a:t>Fourth level</a:t>
            </a:r>
            <a:endParaRPr/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3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/>
          </a:p>
        </p:txBody>
      </p:sp>
      <p:sp>
        <p:nvSpPr>
          <p:cNvPr id="54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59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60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/>
          </a:p>
        </p:txBody>
      </p:sp>
      <p:sp>
        <p:nvSpPr>
          <p:cNvPr id="61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62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3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66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/>
          </a:p>
          <a:p>
            <a:pPr lvl="1"/>
            <a:r>
              <a:rPr lang="en-US"/>
              <a:t>Second level</a:t>
            </a:r>
            <a:endParaRPr/>
          </a:p>
          <a:p>
            <a:pPr lvl="2"/>
            <a:r>
              <a:rPr lang="en-US"/>
              <a:t>Third level</a:t>
            </a:r>
            <a:endParaRPr/>
          </a:p>
          <a:p>
            <a:pPr lvl="3"/>
            <a:r>
              <a:rPr lang="en-US"/>
              <a:t>Fourth level</a:t>
            </a:r>
            <a:endParaRPr/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6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5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/>
          </a:p>
          <a:p>
            <a:pPr lvl="1"/>
            <a:r>
              <a:rPr lang="en-US"/>
              <a:t>Second level</a:t>
            </a:r>
            <a:endParaRPr/>
          </a:p>
          <a:p>
            <a:pPr lvl="2"/>
            <a:r>
              <a:rPr lang="en-US"/>
              <a:t>Third level</a:t>
            </a:r>
            <a:endParaRPr/>
          </a:p>
          <a:p>
            <a:pPr lvl="3"/>
            <a:r>
              <a:rPr lang="en-US"/>
              <a:t>Fourth level</a:t>
            </a:r>
            <a:endParaRPr/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1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1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/>
          </a:p>
        </p:txBody>
      </p:sp>
      <p:sp>
        <p:nvSpPr>
          <p:cNvPr id="72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/>
          </a:p>
        </p:txBody>
      </p:sp>
      <p:sp>
        <p:nvSpPr>
          <p:cNvPr id="7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2026/6/13</a:t>
            </a:fld>
            <a:endParaRPr lang="zh-CN" altLang="en-US"/>
          </a:p>
        </p:txBody>
      </p:sp>
      <p:sp>
        <p:nvSpPr>
          <p:cNvPr id="7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/>
          </a:p>
        </p:txBody>
      </p:sp>
      <p:sp>
        <p:nvSpPr>
          <p:cNvPr id="78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/>
          </a:p>
          <a:p>
            <a:pPr lvl="1"/>
            <a:r>
              <a:rPr lang="zh-CN" altLang="en-US"/>
              <a:t>第二级</a:t>
            </a:r>
            <a:endParaRPr/>
          </a:p>
          <a:p>
            <a:pPr lvl="2"/>
            <a:r>
              <a:rPr lang="zh-CN" altLang="en-US"/>
              <a:t>第三级</a:t>
            </a:r>
            <a:endParaRPr/>
          </a:p>
          <a:p>
            <a:pPr lvl="3"/>
            <a:r>
              <a:rPr lang="zh-CN" altLang="en-US"/>
              <a:t>第四级</a:t>
            </a:r>
            <a:endParaRPr/>
          </a:p>
          <a:p>
            <a:pPr lvl="4"/>
            <a:r>
              <a:rPr lang="zh-CN" altLang="en-US"/>
              <a:t>第五级</a:t>
            </a:r>
            <a:endParaRPr/>
          </a:p>
        </p:txBody>
      </p:sp>
      <p:sp>
        <p:nvSpPr>
          <p:cNvPr id="79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2026/6/13</a:t>
            </a:fld>
            <a:endParaRPr lang="zh-CN" altLang="en-US"/>
          </a:p>
        </p:txBody>
      </p:sp>
      <p:sp>
        <p:nvSpPr>
          <p:cNvPr id="80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1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/>
          </a:p>
        </p:txBody>
      </p:sp>
      <p:sp>
        <p:nvSpPr>
          <p:cNvPr id="90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/>
          </a:p>
        </p:txBody>
      </p:sp>
      <p:sp>
        <p:nvSpPr>
          <p:cNvPr id="91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2026/6/13</a:t>
            </a:fld>
            <a:endParaRPr lang="zh-CN" altLang="en-US"/>
          </a:p>
        </p:txBody>
      </p:sp>
      <p:sp>
        <p:nvSpPr>
          <p:cNvPr id="92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3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/>
          </a:p>
        </p:txBody>
      </p:sp>
      <p:sp>
        <p:nvSpPr>
          <p:cNvPr id="96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/>
          </a:p>
          <a:p>
            <a:pPr lvl="1"/>
            <a:r>
              <a:rPr lang="zh-CN" altLang="en-US"/>
              <a:t>第二级</a:t>
            </a:r>
            <a:endParaRPr/>
          </a:p>
          <a:p>
            <a:pPr lvl="2"/>
            <a:r>
              <a:rPr lang="zh-CN" altLang="en-US"/>
              <a:t>第三级</a:t>
            </a:r>
            <a:endParaRPr/>
          </a:p>
          <a:p>
            <a:pPr lvl="3"/>
            <a:r>
              <a:rPr lang="zh-CN" altLang="en-US"/>
              <a:t>第四级</a:t>
            </a:r>
            <a:endParaRPr/>
          </a:p>
          <a:p>
            <a:pPr lvl="4"/>
            <a:r>
              <a:rPr lang="zh-CN" altLang="en-US"/>
              <a:t>第五级</a:t>
            </a:r>
            <a:endParaRPr/>
          </a:p>
        </p:txBody>
      </p:sp>
      <p:sp>
        <p:nvSpPr>
          <p:cNvPr id="97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/>
          </a:p>
          <a:p>
            <a:pPr lvl="1"/>
            <a:r>
              <a:rPr lang="zh-CN" altLang="en-US"/>
              <a:t>第二级</a:t>
            </a:r>
            <a:endParaRPr/>
          </a:p>
          <a:p>
            <a:pPr lvl="2"/>
            <a:r>
              <a:rPr lang="zh-CN" altLang="en-US"/>
              <a:t>第三级</a:t>
            </a:r>
            <a:endParaRPr/>
          </a:p>
          <a:p>
            <a:pPr lvl="3"/>
            <a:r>
              <a:rPr lang="zh-CN" altLang="en-US"/>
              <a:t>第四级</a:t>
            </a:r>
            <a:endParaRPr/>
          </a:p>
          <a:p>
            <a:pPr lvl="4"/>
            <a:r>
              <a:rPr lang="zh-CN" altLang="en-US"/>
              <a:t>第五级</a:t>
            </a:r>
            <a:endParaRPr/>
          </a:p>
        </p:txBody>
      </p:sp>
      <p:sp>
        <p:nvSpPr>
          <p:cNvPr id="98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2026/6/13</a:t>
            </a:fld>
            <a:endParaRPr lang="zh-CN" altLang="en-US"/>
          </a:p>
        </p:txBody>
      </p:sp>
      <p:sp>
        <p:nvSpPr>
          <p:cNvPr id="99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0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/>
          </a:p>
        </p:txBody>
      </p:sp>
      <p:sp>
        <p:nvSpPr>
          <p:cNvPr id="10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/>
          </a:p>
        </p:txBody>
      </p:sp>
      <p:sp>
        <p:nvSpPr>
          <p:cNvPr id="10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/>
          </a:p>
          <a:p>
            <a:pPr lvl="1"/>
            <a:r>
              <a:rPr lang="zh-CN" altLang="en-US"/>
              <a:t>第二级</a:t>
            </a:r>
            <a:endParaRPr/>
          </a:p>
          <a:p>
            <a:pPr lvl="2"/>
            <a:r>
              <a:rPr lang="zh-CN" altLang="en-US"/>
              <a:t>第三级</a:t>
            </a:r>
            <a:endParaRPr/>
          </a:p>
          <a:p>
            <a:pPr lvl="3"/>
            <a:r>
              <a:rPr lang="zh-CN" altLang="en-US"/>
              <a:t>第四级</a:t>
            </a:r>
            <a:endParaRPr/>
          </a:p>
          <a:p>
            <a:pPr lvl="4"/>
            <a:r>
              <a:rPr lang="zh-CN" altLang="en-US"/>
              <a:t>第五级</a:t>
            </a:r>
            <a:endParaRPr/>
          </a:p>
        </p:txBody>
      </p:sp>
      <p:sp>
        <p:nvSpPr>
          <p:cNvPr id="10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/>
          </a:p>
        </p:txBody>
      </p:sp>
      <p:sp>
        <p:nvSpPr>
          <p:cNvPr id="10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/>
          </a:p>
          <a:p>
            <a:pPr lvl="1"/>
            <a:r>
              <a:rPr lang="zh-CN" altLang="en-US"/>
              <a:t>第二级</a:t>
            </a:r>
            <a:endParaRPr/>
          </a:p>
          <a:p>
            <a:pPr lvl="2"/>
            <a:r>
              <a:rPr lang="zh-CN" altLang="en-US"/>
              <a:t>第三级</a:t>
            </a:r>
            <a:endParaRPr/>
          </a:p>
          <a:p>
            <a:pPr lvl="3"/>
            <a:r>
              <a:rPr lang="zh-CN" altLang="en-US"/>
              <a:t>第四级</a:t>
            </a:r>
            <a:endParaRPr/>
          </a:p>
          <a:p>
            <a:pPr lvl="4"/>
            <a:r>
              <a:rPr lang="zh-CN" altLang="en-US"/>
              <a:t>第五级</a:t>
            </a:r>
            <a:endParaRPr/>
          </a:p>
        </p:txBody>
      </p:sp>
      <p:sp>
        <p:nvSpPr>
          <p:cNvPr id="10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2026/6/13</a:t>
            </a:fld>
            <a:endParaRPr lang="zh-CN" altLang="en-US"/>
          </a:p>
        </p:txBody>
      </p:sp>
      <p:sp>
        <p:nvSpPr>
          <p:cNvPr id="10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/>
          </a:p>
        </p:txBody>
      </p:sp>
      <p:sp>
        <p:nvSpPr>
          <p:cNvPr id="112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2026/6/13</a:t>
            </a:fld>
            <a:endParaRPr lang="zh-CN" altLang="en-US"/>
          </a:p>
        </p:txBody>
      </p:sp>
      <p:sp>
        <p:nvSpPr>
          <p:cNvPr id="113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14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2026/6/13</a:t>
            </a:fld>
            <a:endParaRPr lang="zh-CN" altLang="en-US"/>
          </a:p>
        </p:txBody>
      </p:sp>
      <p:sp>
        <p:nvSpPr>
          <p:cNvPr id="117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18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/>
          </a:p>
        </p:txBody>
      </p:sp>
      <p:sp>
        <p:nvSpPr>
          <p:cNvPr id="121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/>
          </a:p>
          <a:p>
            <a:pPr lvl="1"/>
            <a:r>
              <a:rPr lang="zh-CN" altLang="en-US"/>
              <a:t>第二级</a:t>
            </a:r>
            <a:endParaRPr/>
          </a:p>
          <a:p>
            <a:pPr lvl="2"/>
            <a:r>
              <a:rPr lang="zh-CN" altLang="en-US"/>
              <a:t>第三级</a:t>
            </a:r>
            <a:endParaRPr/>
          </a:p>
          <a:p>
            <a:pPr lvl="3"/>
            <a:r>
              <a:rPr lang="zh-CN" altLang="en-US"/>
              <a:t>第四级</a:t>
            </a:r>
            <a:endParaRPr/>
          </a:p>
          <a:p>
            <a:pPr lvl="4"/>
            <a:r>
              <a:rPr lang="zh-CN" altLang="en-US"/>
              <a:t>第五级</a:t>
            </a:r>
            <a:endParaRPr/>
          </a:p>
        </p:txBody>
      </p:sp>
      <p:sp>
        <p:nvSpPr>
          <p:cNvPr id="122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/>
          </a:p>
        </p:txBody>
      </p:sp>
      <p:sp>
        <p:nvSpPr>
          <p:cNvPr id="123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2026/6/13</a:t>
            </a:fld>
            <a:endParaRPr lang="zh-CN" altLang="en-US"/>
          </a:p>
        </p:txBody>
      </p:sp>
      <p:sp>
        <p:nvSpPr>
          <p:cNvPr id="124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25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/>
          </a:p>
        </p:txBody>
      </p:sp>
      <p:sp>
        <p:nvSpPr>
          <p:cNvPr id="128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129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/>
          </a:p>
        </p:txBody>
      </p:sp>
      <p:sp>
        <p:nvSpPr>
          <p:cNvPr id="130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2026/6/13</a:t>
            </a:fld>
            <a:endParaRPr lang="zh-CN" altLang="en-US"/>
          </a:p>
        </p:txBody>
      </p:sp>
      <p:sp>
        <p:nvSpPr>
          <p:cNvPr id="131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32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/>
          </a:p>
        </p:txBody>
      </p:sp>
      <p:sp>
        <p:nvSpPr>
          <p:cNvPr id="135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/>
          </a:p>
          <a:p>
            <a:pPr lvl="1"/>
            <a:r>
              <a:rPr lang="zh-CN" altLang="en-US"/>
              <a:t>第二级</a:t>
            </a:r>
            <a:endParaRPr/>
          </a:p>
          <a:p>
            <a:pPr lvl="2"/>
            <a:r>
              <a:rPr lang="zh-CN" altLang="en-US"/>
              <a:t>第三级</a:t>
            </a:r>
            <a:endParaRPr/>
          </a:p>
          <a:p>
            <a:pPr lvl="3"/>
            <a:r>
              <a:rPr lang="zh-CN" altLang="en-US"/>
              <a:t>第四级</a:t>
            </a:r>
            <a:endParaRPr/>
          </a:p>
          <a:p>
            <a:pPr lvl="4"/>
            <a:r>
              <a:rPr lang="zh-CN" altLang="en-US"/>
              <a:t>第五级</a:t>
            </a:r>
            <a:endParaRPr/>
          </a:p>
        </p:txBody>
      </p:sp>
      <p:sp>
        <p:nvSpPr>
          <p:cNvPr id="136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2026/6/13</a:t>
            </a:fld>
            <a:endParaRPr lang="zh-CN" altLang="en-US"/>
          </a:p>
        </p:txBody>
      </p:sp>
      <p:sp>
        <p:nvSpPr>
          <p:cNvPr id="137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38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垂直排列标题与 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/>
          </a:p>
        </p:txBody>
      </p:sp>
      <p:sp>
        <p:nvSpPr>
          <p:cNvPr id="84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/>
          </a:p>
          <a:p>
            <a:pPr lvl="1"/>
            <a:r>
              <a:rPr lang="zh-CN" altLang="en-US"/>
              <a:t>第二级</a:t>
            </a:r>
            <a:endParaRPr/>
          </a:p>
          <a:p>
            <a:pPr lvl="2"/>
            <a:r>
              <a:rPr lang="zh-CN" altLang="en-US"/>
              <a:t>第三级</a:t>
            </a:r>
            <a:endParaRPr/>
          </a:p>
          <a:p>
            <a:pPr lvl="3"/>
            <a:r>
              <a:rPr lang="zh-CN" altLang="en-US"/>
              <a:t>第四级</a:t>
            </a:r>
            <a:endParaRPr/>
          </a:p>
          <a:p>
            <a:pPr lvl="4"/>
            <a:r>
              <a:rPr lang="zh-CN" altLang="en-US"/>
              <a:t>第五级</a:t>
            </a:r>
            <a:endParaRPr/>
          </a:p>
        </p:txBody>
      </p:sp>
      <p:sp>
        <p:nvSpPr>
          <p:cNvPr id="8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2026/6/13</a:t>
            </a:fld>
            <a:endParaRPr lang="zh-CN" altLang="en-US"/>
          </a:p>
        </p:txBody>
      </p:sp>
      <p:sp>
        <p:nvSpPr>
          <p:cNvPr id="8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141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14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2026/6/13</a:t>
            </a:fld>
            <a:endParaRPr lang="zh-CN" altLang="en-US"/>
          </a:p>
        </p:txBody>
      </p:sp>
      <p:sp>
        <p:nvSpPr>
          <p:cNvPr id="14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4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147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48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2026/6/13</a:t>
            </a:fld>
            <a:endParaRPr lang="zh-CN" altLang="en-US"/>
          </a:p>
        </p:txBody>
      </p:sp>
      <p:sp>
        <p:nvSpPr>
          <p:cNvPr id="149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50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159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60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2026/6/13</a:t>
            </a:fld>
            <a:endParaRPr lang="zh-CN" altLang="en-US"/>
          </a:p>
        </p:txBody>
      </p:sp>
      <p:sp>
        <p:nvSpPr>
          <p:cNvPr id="161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62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165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66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67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2026/6/13</a:t>
            </a:fld>
            <a:endParaRPr lang="zh-CN" altLang="en-US"/>
          </a:p>
        </p:txBody>
      </p:sp>
      <p:sp>
        <p:nvSpPr>
          <p:cNvPr id="168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69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172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73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74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75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76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2026/6/13</a:t>
            </a:fld>
            <a:endParaRPr lang="zh-CN" altLang="en-US"/>
          </a:p>
        </p:txBody>
      </p:sp>
      <p:sp>
        <p:nvSpPr>
          <p:cNvPr id="177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78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181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2026/6/13</a:t>
            </a:fld>
            <a:endParaRPr lang="zh-CN" altLang="en-US"/>
          </a:p>
        </p:txBody>
      </p:sp>
      <p:sp>
        <p:nvSpPr>
          <p:cNvPr id="182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83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2026/6/13</a:t>
            </a:fld>
            <a:endParaRPr lang="zh-CN" altLang="en-US"/>
          </a:p>
        </p:txBody>
      </p:sp>
      <p:sp>
        <p:nvSpPr>
          <p:cNvPr id="186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87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190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91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92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2026/6/13</a:t>
            </a:fld>
            <a:endParaRPr lang="zh-CN" altLang="en-US"/>
          </a:p>
        </p:txBody>
      </p:sp>
      <p:sp>
        <p:nvSpPr>
          <p:cNvPr id="193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94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197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198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99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2026/6/13</a:t>
            </a:fld>
            <a:endParaRPr lang="zh-CN" altLang="en-US"/>
          </a:p>
        </p:txBody>
      </p:sp>
      <p:sp>
        <p:nvSpPr>
          <p:cNvPr id="200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201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204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20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2026/6/13</a:t>
            </a:fld>
            <a:endParaRPr lang="zh-CN" altLang="en-US"/>
          </a:p>
        </p:txBody>
      </p:sp>
      <p:sp>
        <p:nvSpPr>
          <p:cNvPr id="20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20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垂直排列标题与 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15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5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2026/6/13</a:t>
            </a:fld>
            <a:endParaRPr lang="zh-CN" altLang="en-US"/>
          </a:p>
        </p:txBody>
      </p:sp>
      <p:sp>
        <p:nvSpPr>
          <p:cNvPr id="15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5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/>
          </a:p>
          <a:p>
            <a:pPr lvl="1"/>
            <a:r>
              <a:rPr lang="en-US"/>
              <a:t>Second level</a:t>
            </a:r>
            <a:endParaRPr/>
          </a:p>
          <a:p>
            <a:pPr lvl="2"/>
            <a:r>
              <a:rPr lang="en-US"/>
              <a:t>Third level</a:t>
            </a:r>
            <a:endParaRPr/>
          </a:p>
          <a:p>
            <a:pPr lvl="3"/>
            <a:r>
              <a:rPr lang="en-US"/>
              <a:t>Fourth level</a:t>
            </a:r>
            <a:endParaRPr/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/>
          </a:p>
        </p:txBody>
      </p:sp>
      <p:sp>
        <p:nvSpPr>
          <p:cNvPr id="9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/>
          </a:p>
          <a:p>
            <a:pPr lvl="1"/>
            <a:r>
              <a:rPr lang="zh-CN" altLang="en-US"/>
              <a:t>第二级</a:t>
            </a:r>
            <a:endParaRPr/>
          </a:p>
          <a:p>
            <a:pPr lvl="2"/>
            <a:r>
              <a:rPr lang="zh-CN" altLang="en-US"/>
              <a:t>第三级</a:t>
            </a:r>
            <a:endParaRPr/>
          </a:p>
          <a:p>
            <a:pPr lvl="3"/>
            <a:r>
              <a:rPr lang="zh-CN" altLang="en-US"/>
              <a:t>第四级</a:t>
            </a:r>
            <a:endParaRPr/>
          </a:p>
          <a:p>
            <a:pPr lvl="4"/>
            <a:r>
              <a:rPr lang="zh-CN" altLang="en-US"/>
              <a:t>第五级</a:t>
            </a:r>
            <a:endParaRPr/>
          </a:p>
        </p:txBody>
      </p:sp>
      <p:sp>
        <p:nvSpPr>
          <p:cNvPr id="10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2026/6/13</a:t>
            </a:fld>
            <a:endParaRPr lang="zh-CN" altLang="en-US"/>
          </a:p>
        </p:txBody>
      </p:sp>
      <p:sp>
        <p:nvSpPr>
          <p:cNvPr id="11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15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6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2026/6/13</a:t>
            </a:fld>
            <a:endParaRPr lang="zh-CN" altLang="en-US"/>
          </a:p>
        </p:txBody>
      </p:sp>
      <p:sp>
        <p:nvSpPr>
          <p:cNvPr id="17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8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文本框 11"/>
          <p:cNvSpPr txBox="1"/>
          <p:nvPr/>
        </p:nvSpPr>
        <p:spPr>
          <a:xfrm>
            <a:off x="4172983" y="381231"/>
            <a:ext cx="3670300" cy="584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>
                <a:latin typeface="Arial"/>
                <a:ea typeface="微软雅黑"/>
                <a:cs typeface="Arial"/>
              </a:rPr>
              <a:t>COE201 2026</a:t>
            </a:r>
            <a:endParaRPr/>
          </a:p>
        </p:txBody>
      </p:sp>
      <p:pic>
        <p:nvPicPr>
          <p:cNvPr id="135" name="图片 6"/>
          <p:cNvPicPr/>
          <p:nvPr/>
        </p:nvPicPr>
        <p:blipFill>
          <a:blip r:embed="rId3" cstate="print"/>
          <a:srcRect t="417"/>
          <a:stretch>
            <a:fillRect/>
          </a:stretch>
        </p:blipFill>
        <p:spPr>
          <a:xfrm>
            <a:off x="5026651" y="4064479"/>
            <a:ext cx="1962963" cy="2228371"/>
          </a:xfrm>
          <a:prstGeom prst="rect">
            <a:avLst/>
          </a:prstGeom>
        </p:spPr>
      </p:pic>
      <p:pic>
        <p:nvPicPr>
          <p:cNvPr id="136" name="图片 7"/>
          <p:cNvPicPr/>
          <p:nvPr/>
        </p:nvPicPr>
        <p:blipFill>
          <a:blip r:embed="rId4" cstate="print"/>
          <a:srcRect t="2498"/>
          <a:stretch>
            <a:fillRect/>
          </a:stretch>
        </p:blipFill>
        <p:spPr>
          <a:xfrm>
            <a:off x="2093139" y="4064479"/>
            <a:ext cx="1927128" cy="2228371"/>
          </a:xfrm>
          <a:prstGeom prst="rect">
            <a:avLst/>
          </a:prstGeom>
        </p:spPr>
      </p:pic>
      <p:pic>
        <p:nvPicPr>
          <p:cNvPr id="137" name="图片 8"/>
          <p:cNvPicPr>
            <a:picLocks noChangeAspect="1"/>
          </p:cNvPicPr>
          <p:nvPr/>
        </p:nvPicPr>
        <p:blipFill>
          <a:blip r:embed="rId5" cstate="print"/>
          <a:srcRect t="2097"/>
          <a:stretch>
            <a:fillRect/>
          </a:stretch>
        </p:blipFill>
        <p:spPr>
          <a:xfrm>
            <a:off x="8002918" y="4064479"/>
            <a:ext cx="1998798" cy="2459746"/>
          </a:xfrm>
          <a:prstGeom prst="rect">
            <a:avLst/>
          </a:prstGeom>
        </p:spPr>
      </p:pic>
      <p:pic>
        <p:nvPicPr>
          <p:cNvPr id="138" name="图片 13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01" y="1204085"/>
            <a:ext cx="12059998" cy="235915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TextBox 1"/>
          <p:cNvSpPr txBox="1"/>
          <p:nvPr/>
        </p:nvSpPr>
        <p:spPr>
          <a:xfrm>
            <a:off x="594360" y="320040"/>
            <a:ext cx="1088136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400" b="1">
                <a:solidFill>
                  <a:srgbClr val="111827"/>
                </a:solidFill>
                <a:latin typeface="Arial"/>
              </a:defRPr>
            </a:pPr>
            <a:r>
              <a:rPr>
                <a:latin typeface="Arial"/>
              </a:rPr>
              <a:t>Motivation: Local Knowledge Breaks Direct LLM QA</a:t>
            </a:r>
            <a:endParaRPr/>
          </a:p>
        </p:txBody>
      </p:sp>
      <p:sp>
        <p:nvSpPr>
          <p:cNvPr id="141" name="Rectangle 2"/>
          <p:cNvSpPr/>
          <p:nvPr/>
        </p:nvSpPr>
        <p:spPr>
          <a:xfrm>
            <a:off x="0" y="0"/>
            <a:ext cx="12191999" cy="73152"/>
          </a:xfrm>
          <a:prstGeom prst="rect">
            <a:avLst/>
          </a:prstGeom>
          <a:solidFill>
            <a:srgbClr val="12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42" name="组合 141"/>
          <p:cNvGrpSpPr/>
          <p:nvPr/>
        </p:nvGrpSpPr>
        <p:grpSpPr>
          <a:xfrm>
            <a:off x="214537" y="992469"/>
            <a:ext cx="3801969" cy="2800734"/>
            <a:chOff x="685799" y="1143000"/>
            <a:chExt cx="4846318" cy="1706217"/>
          </a:xfrm>
        </p:grpSpPr>
        <p:sp>
          <p:nvSpPr>
            <p:cNvPr id="143" name="Rounded Rectangle 3"/>
            <p:cNvSpPr/>
            <p:nvPr/>
          </p:nvSpPr>
          <p:spPr>
            <a:xfrm>
              <a:off x="685799" y="1143000"/>
              <a:ext cx="4846319" cy="1706217"/>
            </a:xfrm>
            <a:prstGeom prst="roundRect">
              <a:avLst/>
            </a:prstGeom>
            <a:solidFill>
              <a:srgbClr val="E8F2FF"/>
            </a:solidFill>
            <a:ln>
              <a:solidFill>
                <a:srgbClr val="D2D8E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4" name="Rounded Rectangle 4"/>
            <p:cNvSpPr/>
            <p:nvPr/>
          </p:nvSpPr>
          <p:spPr>
            <a:xfrm>
              <a:off x="685800" y="1143000"/>
              <a:ext cx="4846320" cy="347472"/>
            </a:xfrm>
            <a:prstGeom prst="roundRect">
              <a:avLst/>
            </a:prstGeom>
            <a:solidFill>
              <a:srgbClr val="124E7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5" name="TextBox 5"/>
            <p:cNvSpPr txBox="1"/>
            <p:nvPr/>
          </p:nvSpPr>
          <p:spPr>
            <a:xfrm>
              <a:off x="850392" y="1197864"/>
              <a:ext cx="4526280" cy="228600"/>
            </a:xfrm>
            <a:prstGeom prst="rect">
              <a:avLst/>
            </a:prstGeom>
            <a:noFill/>
          </p:spPr>
          <p:txBody>
            <a:bodyPr wrap="square">
              <a:noAutofit/>
            </a:bodyPr>
            <a:lstStyle/>
            <a:p>
              <a:pPr algn="ctr">
                <a:defRPr sz="1400" b="1">
                  <a:solidFill>
                    <a:srgbClr val="FFFFFF">
                      <a:alpha val="100000"/>
                    </a:srgbClr>
                  </a:solidFill>
                  <a:latin typeface="Arial"/>
                  <a:ea typeface="宋体"/>
                  <a:cs typeface="+mn-cs"/>
                </a:defRPr>
              </a:pPr>
              <a:r>
                <a:rPr sz="1200">
                  <a:latin typeface="Arial"/>
                  <a:ea typeface="宋体"/>
                  <a:cs typeface="+mn-cs"/>
                </a:rPr>
                <a:t>Campus QA depends on local documents</a:t>
              </a:r>
              <a:endParaRPr/>
            </a:p>
          </p:txBody>
        </p:sp>
        <p:sp>
          <p:nvSpPr>
            <p:cNvPr id="146" name="TextBox 6"/>
            <p:cNvSpPr txBox="1"/>
            <p:nvPr/>
          </p:nvSpPr>
          <p:spPr>
            <a:xfrm>
              <a:off x="886968" y="1545336"/>
              <a:ext cx="4414484" cy="1276184"/>
            </a:xfrm>
            <a:prstGeom prst="rect">
              <a:avLst/>
            </a:prstGeom>
            <a:noFill/>
          </p:spPr>
          <p:txBody>
            <a:bodyPr wrap="square">
              <a:noAutofit/>
            </a:bodyPr>
            <a:lstStyle/>
            <a:p>
              <a:pPr>
                <a:defRPr sz="1500" b="0">
                  <a:solidFill>
                    <a:srgbClr val="111827">
                      <a:alpha val="100000"/>
                    </a:srgbClr>
                  </a:solidFill>
                  <a:latin typeface="Arial"/>
                  <a:ea typeface="宋体"/>
                  <a:cs typeface="+mn-cs"/>
                </a:defRPr>
              </a:pPr>
              <a:r>
                <a:rPr lang="en-US" sz="1800">
                  <a:latin typeface="Arial"/>
                  <a:ea typeface="宋体"/>
                  <a:cs typeface="+mn-cs"/>
                </a:rPr>
                <a:t>H</a:t>
              </a:r>
              <a:r>
                <a:rPr sz="1800">
                  <a:latin typeface="Arial"/>
                  <a:ea typeface="宋体"/>
                  <a:cs typeface="+mn-cs"/>
                </a:rPr>
                <a:t>ousing and dormitory rules,
</a:t>
              </a:r>
              <a:r>
                <a:rPr lang="en-US" sz="1800">
                  <a:latin typeface="Arial"/>
                  <a:ea typeface="宋体"/>
                  <a:cs typeface="+mn-cs"/>
                </a:rPr>
                <a:t>C</a:t>
              </a:r>
              <a:r>
                <a:rPr sz="1800">
                  <a:latin typeface="Arial"/>
                  <a:ea typeface="宋体"/>
                  <a:cs typeface="+mn-cs"/>
                </a:rPr>
                <a:t>ourse selection procedures,
</a:t>
              </a:r>
              <a:r>
                <a:rPr lang="en-US" sz="1800">
                  <a:latin typeface="Arial"/>
                  <a:ea typeface="宋体"/>
                  <a:cs typeface="+mn-cs"/>
                </a:rPr>
                <a:t>L</a:t>
              </a:r>
              <a:r>
                <a:rPr sz="1800">
                  <a:latin typeface="Arial"/>
                  <a:ea typeface="宋体"/>
                  <a:cs typeface="+mn-cs"/>
                </a:rPr>
                <a:t>ibrary opening hours,
Student card and scholarship </a:t>
              </a:r>
              <a:r>
                <a:rPr lang="en-US" sz="1800">
                  <a:latin typeface="Arial"/>
                  <a:ea typeface="宋体"/>
                  <a:cs typeface="+mn-cs"/>
                </a:rPr>
                <a:t>p</a:t>
              </a:r>
              <a:r>
                <a:rPr sz="1800">
                  <a:latin typeface="Arial"/>
                  <a:ea typeface="宋体"/>
                  <a:cs typeface="+mn-cs"/>
                </a:rPr>
                <a:t>olicies,
</a:t>
              </a:r>
              <a:r>
                <a:rPr lang="en-US" sz="1800">
                  <a:latin typeface="Arial"/>
                  <a:ea typeface="宋体"/>
                  <a:cs typeface="+mn-cs"/>
                </a:rPr>
                <a:t>E</a:t>
              </a:r>
              <a:r>
                <a:rPr sz="1800">
                  <a:latin typeface="Arial"/>
                  <a:ea typeface="宋体"/>
                  <a:cs typeface="+mn-cs"/>
                </a:rPr>
                <a:t>xamination discipline, </a:t>
              </a:r>
              <a:endParaRPr/>
            </a:p>
            <a:p>
              <a:pPr>
                <a:defRPr sz="1500" b="0">
                  <a:solidFill>
                    <a:srgbClr val="111827">
                      <a:alpha val="100000"/>
                    </a:srgbClr>
                  </a:solidFill>
                  <a:latin typeface="Arial"/>
                  <a:ea typeface="宋体"/>
                  <a:cs typeface="+mn-cs"/>
                </a:defRPr>
              </a:pPr>
              <a:r>
                <a:rPr sz="1800">
                  <a:latin typeface="Arial"/>
                  <a:ea typeface="宋体"/>
                  <a:cs typeface="+mn-cs"/>
                </a:rPr>
                <a:t>Regulations...</a:t>
              </a:r>
              <a:endParaRPr/>
            </a:p>
          </p:txBody>
        </p:sp>
      </p:grpSp>
      <p:grpSp>
        <p:nvGrpSpPr>
          <p:cNvPr id="147" name="组合 146"/>
          <p:cNvGrpSpPr/>
          <p:nvPr/>
        </p:nvGrpSpPr>
        <p:grpSpPr>
          <a:xfrm>
            <a:off x="4286731" y="992469"/>
            <a:ext cx="3618534" cy="2800734"/>
            <a:chOff x="6537960" y="1143000"/>
            <a:chExt cx="4800600" cy="1706217"/>
          </a:xfrm>
        </p:grpSpPr>
        <p:sp>
          <p:nvSpPr>
            <p:cNvPr id="148" name="Rounded Rectangle 7"/>
            <p:cNvSpPr/>
            <p:nvPr/>
          </p:nvSpPr>
          <p:spPr>
            <a:xfrm>
              <a:off x="6537960" y="1143000"/>
              <a:ext cx="4800600" cy="1706217"/>
            </a:xfrm>
            <a:prstGeom prst="roundRect">
              <a:avLst/>
            </a:prstGeom>
            <a:solidFill>
              <a:srgbClr val="FFF4E6"/>
            </a:solidFill>
            <a:ln>
              <a:solidFill>
                <a:srgbClr val="D2D8E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9" name="Rounded Rectangle 8"/>
            <p:cNvSpPr/>
            <p:nvPr/>
          </p:nvSpPr>
          <p:spPr>
            <a:xfrm>
              <a:off x="6537960" y="1143000"/>
              <a:ext cx="4800600" cy="347472"/>
            </a:xfrm>
            <a:prstGeom prst="roundRect">
              <a:avLst/>
            </a:prstGeom>
            <a:solidFill>
              <a:srgbClr val="D9770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50" name="TextBox 9"/>
            <p:cNvSpPr txBox="1"/>
            <p:nvPr/>
          </p:nvSpPr>
          <p:spPr>
            <a:xfrm>
              <a:off x="6702552" y="1197864"/>
              <a:ext cx="4480560" cy="228600"/>
            </a:xfrm>
            <a:prstGeom prst="rect">
              <a:avLst/>
            </a:prstGeom>
            <a:noFill/>
          </p:spPr>
          <p:txBody>
            <a:bodyPr wrap="square">
              <a:noAutofit/>
            </a:bodyPr>
            <a:lstStyle/>
            <a:p>
              <a:pPr algn="ctr">
                <a:defRPr sz="1400" b="1">
                  <a:solidFill>
                    <a:srgbClr val="FFFFFF"/>
                  </a:solidFill>
                  <a:latin typeface="Arial"/>
                </a:defRPr>
              </a:pPr>
              <a:r>
                <a:rPr sz="1200" dirty="0">
                  <a:latin typeface="Arial"/>
                </a:rPr>
                <a:t>Why direct LLM is risky</a:t>
              </a:r>
              <a:endParaRPr/>
            </a:p>
          </p:txBody>
        </p:sp>
        <p:sp>
          <p:nvSpPr>
            <p:cNvPr id="151" name="TextBox 10"/>
            <p:cNvSpPr txBox="1"/>
            <p:nvPr/>
          </p:nvSpPr>
          <p:spPr>
            <a:xfrm>
              <a:off x="6632371" y="1614910"/>
              <a:ext cx="4706188" cy="1137037"/>
            </a:xfrm>
            <a:prstGeom prst="rect">
              <a:avLst/>
            </a:prstGeom>
            <a:noFill/>
          </p:spPr>
          <p:txBody>
            <a:bodyPr wrap="square">
              <a:normAutofit/>
            </a:bodyPr>
            <a:lstStyle/>
            <a:p>
              <a:pPr>
                <a:defRPr sz="1500" b="0">
                  <a:solidFill>
                    <a:srgbClr val="111827">
                      <a:alpha val="100000"/>
                    </a:srgbClr>
                  </a:solidFill>
                  <a:latin typeface="Arial"/>
                  <a:ea typeface="宋体"/>
                  <a:cs typeface="+mn-cs"/>
                </a:defRPr>
              </a:pPr>
              <a:r>
                <a:rPr lang="en-US" sz="1800">
                  <a:latin typeface="Arial"/>
                  <a:ea typeface="宋体"/>
                  <a:cs typeface="+mn-cs"/>
                </a:rPr>
                <a:t>P</a:t>
              </a:r>
              <a:r>
                <a:rPr sz="1800">
                  <a:latin typeface="Arial"/>
                  <a:ea typeface="宋体"/>
                  <a:cs typeface="+mn-cs"/>
                </a:rPr>
                <a:t>lausible but generic answers;
</a:t>
              </a:r>
              <a:r>
                <a:rPr lang="en-US" sz="1800">
                  <a:latin typeface="Arial"/>
                  <a:ea typeface="宋体"/>
                  <a:cs typeface="+mn-cs"/>
                </a:rPr>
                <a:t>O</a:t>
              </a:r>
              <a:r>
                <a:rPr sz="1800">
                  <a:latin typeface="Arial"/>
                  <a:ea typeface="宋体"/>
                  <a:cs typeface="+mn-cs"/>
                </a:rPr>
                <a:t>utdated or non-SUSTech facts;
</a:t>
              </a:r>
              <a:r>
                <a:rPr lang="en-US" sz="1800">
                  <a:latin typeface="Arial"/>
                  <a:ea typeface="宋体"/>
                  <a:cs typeface="+mn-cs"/>
                </a:rPr>
                <a:t>N</a:t>
              </a:r>
              <a:r>
                <a:rPr sz="1800">
                  <a:latin typeface="Arial"/>
                  <a:ea typeface="宋体"/>
                  <a:cs typeface="+mn-cs"/>
                </a:rPr>
                <a:t>o reliable source traceability;
Weak refusal when evidence is absent...</a:t>
              </a:r>
              <a:endParaRPr/>
            </a:p>
          </p:txBody>
        </p:sp>
      </p:grpSp>
      <p:grpSp>
        <p:nvGrpSpPr>
          <p:cNvPr id="152" name="组合 151"/>
          <p:cNvGrpSpPr/>
          <p:nvPr/>
        </p:nvGrpSpPr>
        <p:grpSpPr>
          <a:xfrm>
            <a:off x="8175493" y="992469"/>
            <a:ext cx="3483107" cy="2800733"/>
            <a:chOff x="3476708" y="4261105"/>
            <a:chExt cx="4800600" cy="804672"/>
          </a:xfrm>
        </p:grpSpPr>
        <p:sp>
          <p:nvSpPr>
            <p:cNvPr id="153" name="Rounded Rectangle 11"/>
            <p:cNvSpPr/>
            <p:nvPr/>
          </p:nvSpPr>
          <p:spPr>
            <a:xfrm>
              <a:off x="3476708" y="4261105"/>
              <a:ext cx="4800600" cy="804672"/>
            </a:xfrm>
            <a:prstGeom prst="roundRect">
              <a:avLst/>
            </a:prstGeom>
            <a:solidFill>
              <a:srgbClr val="E8F8EE"/>
            </a:solidFill>
            <a:ln>
              <a:solidFill>
                <a:srgbClr val="D2D8E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54" name="Rounded Rectangle 12"/>
            <p:cNvSpPr/>
            <p:nvPr/>
          </p:nvSpPr>
          <p:spPr>
            <a:xfrm>
              <a:off x="3476708" y="4261105"/>
              <a:ext cx="4800600" cy="165642"/>
            </a:xfrm>
            <a:prstGeom prst="roundRect">
              <a:avLst/>
            </a:prstGeom>
            <a:solidFill>
              <a:srgbClr val="2E7D3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55" name="TextBox 13"/>
            <p:cNvSpPr txBox="1"/>
            <p:nvPr/>
          </p:nvSpPr>
          <p:spPr>
            <a:xfrm>
              <a:off x="3634673" y="4297682"/>
              <a:ext cx="4480560" cy="228600"/>
            </a:xfrm>
            <a:prstGeom prst="rect">
              <a:avLst/>
            </a:prstGeom>
            <a:noFill/>
          </p:spPr>
          <p:txBody>
            <a:bodyPr wrap="square">
              <a:noAutofit/>
            </a:bodyPr>
            <a:lstStyle/>
            <a:p>
              <a:pPr algn="ctr">
                <a:defRPr sz="1400" b="1">
                  <a:solidFill>
                    <a:srgbClr val="FFFFFF"/>
                  </a:solidFill>
                  <a:latin typeface="Arial"/>
                </a:defRPr>
              </a:pPr>
              <a:r>
                <a:rPr sz="1200" dirty="0">
                  <a:latin typeface="Arial"/>
                </a:rPr>
                <a:t>Goal</a:t>
              </a:r>
              <a:endParaRPr/>
            </a:p>
          </p:txBody>
        </p:sp>
        <p:sp>
          <p:nvSpPr>
            <p:cNvPr id="156" name="TextBox 14"/>
            <p:cNvSpPr txBox="1"/>
            <p:nvPr/>
          </p:nvSpPr>
          <p:spPr>
            <a:xfrm>
              <a:off x="3726113" y="4611560"/>
              <a:ext cx="4389120" cy="210310"/>
            </a:xfrm>
            <a:prstGeom prst="rect">
              <a:avLst/>
            </a:prstGeom>
            <a:noFill/>
          </p:spPr>
          <p:txBody>
            <a:bodyPr wrap="square">
              <a:noAutofit/>
            </a:bodyPr>
            <a:lstStyle/>
            <a:p>
              <a:pPr>
                <a:defRPr sz="1500" b="0">
                  <a:solidFill>
                    <a:srgbClr val="111827">
                      <a:alpha val="100000"/>
                    </a:srgbClr>
                  </a:solidFill>
                  <a:latin typeface="Arial"/>
                  <a:ea typeface="宋体"/>
                  <a:cs typeface="+mn-cs"/>
                </a:defRPr>
              </a:pPr>
              <a:r>
                <a:rPr sz="1800">
                  <a:latin typeface="Arial"/>
                  <a:ea typeface="宋体"/>
                  <a:cs typeface="+mn-cs"/>
                </a:rPr>
                <a:t>Ground answers in SUSTech documents via RAG</a:t>
              </a:r>
              <a:endParaRPr/>
            </a:p>
          </p:txBody>
        </p:sp>
      </p:grpSp>
      <p:pic>
        <p:nvPicPr>
          <p:cNvPr id="157" name="图片 156"/>
          <p:cNvPicPr>
            <a:picLocks noChangeAspect="1"/>
          </p:cNvPicPr>
          <p:nvPr/>
        </p:nvPicPr>
        <p:blipFill>
          <a:blip r:embed="rId2"/>
          <a:srcRect l="5646" t="32392" r="5349" b="29124"/>
          <a:stretch>
            <a:fillRect/>
          </a:stretch>
        </p:blipFill>
        <p:spPr>
          <a:xfrm>
            <a:off x="2656520" y="4044672"/>
            <a:ext cx="6103925" cy="2639256"/>
          </a:xfrm>
          <a:prstGeom prst="rect">
            <a:avLst/>
          </a:prstGeom>
          <a:ln w="12700">
            <a:solidFill>
              <a:schemeClr val="bg2">
                <a:alpha val="100000"/>
              </a:schemeClr>
            </a:solidFill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TextBox 1"/>
          <p:cNvSpPr txBox="1"/>
          <p:nvPr/>
        </p:nvSpPr>
        <p:spPr>
          <a:xfrm>
            <a:off x="594360" y="320040"/>
            <a:ext cx="1088136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400" b="1">
                <a:solidFill>
                  <a:srgbClr val="111827"/>
                </a:solidFill>
                <a:latin typeface="Arial"/>
              </a:defRPr>
            </a:pPr>
            <a:r>
              <a:rPr>
                <a:latin typeface="Arial"/>
              </a:rPr>
              <a:t>Project Goal and Research Questions</a:t>
            </a:r>
            <a:endParaRPr/>
          </a:p>
        </p:txBody>
      </p:sp>
      <p:sp>
        <p:nvSpPr>
          <p:cNvPr id="160" name="Rectangle 2"/>
          <p:cNvSpPr/>
          <p:nvPr/>
        </p:nvSpPr>
        <p:spPr>
          <a:xfrm>
            <a:off x="0" y="0"/>
            <a:ext cx="12191999" cy="73152"/>
          </a:xfrm>
          <a:prstGeom prst="rect">
            <a:avLst/>
          </a:prstGeom>
          <a:solidFill>
            <a:srgbClr val="12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1" name="TextBox 8"/>
          <p:cNvSpPr txBox="1"/>
          <p:nvPr/>
        </p:nvSpPr>
        <p:spPr>
          <a:xfrm>
            <a:off x="1844040" y="5751576"/>
            <a:ext cx="2286000" cy="411480"/>
          </a:xfrm>
          <a:prstGeom prst="rect">
            <a:avLst/>
          </a:prstGeom>
          <a:noFill/>
        </p:spPr>
        <p:txBody>
          <a:bodyPr wrap="square">
            <a:normAutofit fontScale="92500" lnSpcReduction="10000"/>
          </a:bodyPr>
          <a:lstStyle/>
          <a:p>
            <a:pPr algn="ctr">
              <a:defRPr sz="2500" b="1">
                <a:solidFill>
                  <a:srgbClr val="124E78"/>
                </a:solidFill>
                <a:latin typeface="Arial"/>
              </a:defRPr>
            </a:pPr>
            <a:r>
              <a:rPr>
                <a:latin typeface="Arial"/>
              </a:rPr>
              <a:t>30</a:t>
            </a:r>
            <a:endParaRPr/>
          </a:p>
        </p:txBody>
      </p:sp>
      <p:sp>
        <p:nvSpPr>
          <p:cNvPr id="162" name="TextBox 9"/>
          <p:cNvSpPr txBox="1"/>
          <p:nvPr/>
        </p:nvSpPr>
        <p:spPr>
          <a:xfrm>
            <a:off x="1844040" y="6190488"/>
            <a:ext cx="2286000" cy="228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1000" b="0">
                <a:solidFill>
                  <a:srgbClr val="5C6673">
                    <a:alpha val="100000"/>
                  </a:srgbClr>
                </a:solidFill>
                <a:latin typeface="Arial"/>
                <a:ea typeface="宋体"/>
                <a:cs typeface="+mn-cs"/>
              </a:defRPr>
            </a:pPr>
            <a:r>
              <a:rPr sz="1200">
                <a:latin typeface="Arial"/>
                <a:ea typeface="宋体"/>
                <a:cs typeface="+mn-cs"/>
              </a:rPr>
              <a:t>evaluation questions</a:t>
            </a:r>
            <a:endParaRPr/>
          </a:p>
        </p:txBody>
      </p:sp>
      <p:sp>
        <p:nvSpPr>
          <p:cNvPr id="163" name="TextBox 10"/>
          <p:cNvSpPr txBox="1"/>
          <p:nvPr/>
        </p:nvSpPr>
        <p:spPr>
          <a:xfrm>
            <a:off x="4953000" y="5751576"/>
            <a:ext cx="2286000" cy="411480"/>
          </a:xfrm>
          <a:prstGeom prst="rect">
            <a:avLst/>
          </a:prstGeom>
          <a:noFill/>
        </p:spPr>
        <p:txBody>
          <a:bodyPr wrap="square">
            <a:normAutofit fontScale="92500" lnSpcReduction="10000"/>
          </a:bodyPr>
          <a:lstStyle/>
          <a:p>
            <a:pPr algn="ctr">
              <a:defRPr sz="2500" b="1">
                <a:solidFill>
                  <a:srgbClr val="2E7D32"/>
                </a:solidFill>
                <a:latin typeface="Arial"/>
              </a:defRPr>
            </a:pPr>
            <a:r>
              <a:rPr>
                <a:latin typeface="Arial"/>
              </a:rPr>
              <a:t>1700</a:t>
            </a:r>
            <a:endParaRPr/>
          </a:p>
        </p:txBody>
      </p:sp>
      <p:sp>
        <p:nvSpPr>
          <p:cNvPr id="164" name="TextBox 11"/>
          <p:cNvSpPr txBox="1"/>
          <p:nvPr/>
        </p:nvSpPr>
        <p:spPr>
          <a:xfrm>
            <a:off x="4953000" y="6190488"/>
            <a:ext cx="2286000" cy="228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1000" b="0">
                <a:solidFill>
                  <a:srgbClr val="5C6673">
                    <a:alpha val="100000"/>
                  </a:srgbClr>
                </a:solidFill>
                <a:latin typeface="Arial"/>
                <a:ea typeface="宋体"/>
                <a:cs typeface="+mn-cs"/>
              </a:defRPr>
            </a:pPr>
            <a:r>
              <a:rPr sz="1200">
                <a:latin typeface="Arial"/>
                <a:ea typeface="宋体"/>
                <a:cs typeface="+mn-cs"/>
              </a:rPr>
              <a:t>indexed QA records</a:t>
            </a:r>
            <a:endParaRPr/>
          </a:p>
        </p:txBody>
      </p:sp>
      <p:sp>
        <p:nvSpPr>
          <p:cNvPr id="165" name="TextBox 12"/>
          <p:cNvSpPr txBox="1"/>
          <p:nvPr/>
        </p:nvSpPr>
        <p:spPr>
          <a:xfrm>
            <a:off x="8061960" y="5751576"/>
            <a:ext cx="2286000" cy="411480"/>
          </a:xfrm>
          <a:prstGeom prst="rect">
            <a:avLst/>
          </a:prstGeom>
          <a:noFill/>
        </p:spPr>
        <p:txBody>
          <a:bodyPr wrap="square">
            <a:normAutofit fontScale="92500" lnSpcReduction="10000"/>
          </a:bodyPr>
          <a:lstStyle/>
          <a:p>
            <a:pPr algn="ctr">
              <a:defRPr sz="2500" b="1">
                <a:solidFill>
                  <a:srgbClr val="7A5195">
                    <a:alpha val="100000"/>
                  </a:srgbClr>
                </a:solidFill>
                <a:latin typeface="Arial"/>
                <a:ea typeface="宋体"/>
                <a:cs typeface="+mn-cs"/>
              </a:defRPr>
            </a:pPr>
            <a:r>
              <a:rPr lang="en-US">
                <a:latin typeface="Arial"/>
                <a:ea typeface="宋体"/>
                <a:cs typeface="+mn-cs"/>
              </a:rPr>
              <a:t>4</a:t>
            </a:r>
            <a:endParaRPr/>
          </a:p>
        </p:txBody>
      </p:sp>
      <p:sp>
        <p:nvSpPr>
          <p:cNvPr id="166" name="TextBox 13"/>
          <p:cNvSpPr txBox="1"/>
          <p:nvPr/>
        </p:nvSpPr>
        <p:spPr>
          <a:xfrm>
            <a:off x="8061960" y="6190488"/>
            <a:ext cx="2286000" cy="228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1000" b="0">
                <a:solidFill>
                  <a:srgbClr val="5C6673">
                    <a:alpha val="100000"/>
                  </a:srgbClr>
                </a:solidFill>
                <a:latin typeface="Arial"/>
                <a:ea typeface="宋体"/>
                <a:cs typeface="+mn-cs"/>
              </a:defRPr>
            </a:pPr>
            <a:r>
              <a:rPr sz="1200">
                <a:latin typeface="Arial"/>
                <a:ea typeface="宋体"/>
                <a:cs typeface="+mn-cs"/>
              </a:rPr>
              <a:t>systems compared</a:t>
            </a:r>
            <a:endParaRPr/>
          </a:p>
        </p:txBody>
      </p:sp>
      <p:pic>
        <p:nvPicPr>
          <p:cNvPr id="167" name="图片 166"/>
          <p:cNvPicPr/>
          <p:nvPr/>
        </p:nvPicPr>
        <p:blipFill>
          <a:blip r:embed="rId2"/>
          <a:srcRect l="5841" t="19028" r="3452" b="8325"/>
          <a:stretch>
            <a:fillRect/>
          </a:stretch>
        </p:blipFill>
        <p:spPr>
          <a:xfrm>
            <a:off x="1844040" y="1211156"/>
            <a:ext cx="8535810" cy="381563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TextBox 1"/>
          <p:cNvSpPr txBox="1"/>
          <p:nvPr/>
        </p:nvSpPr>
        <p:spPr>
          <a:xfrm>
            <a:off x="594360" y="320040"/>
            <a:ext cx="1088136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400" b="1">
                <a:solidFill>
                  <a:srgbClr val="111827"/>
                </a:solidFill>
                <a:latin typeface="Arial"/>
              </a:defRPr>
            </a:pPr>
            <a:r>
              <a:rPr>
                <a:latin typeface="Arial"/>
              </a:rPr>
              <a:t>System Architecture</a:t>
            </a:r>
            <a:endParaRPr/>
          </a:p>
        </p:txBody>
      </p:sp>
      <p:sp>
        <p:nvSpPr>
          <p:cNvPr id="170" name="Rectangle 2"/>
          <p:cNvSpPr/>
          <p:nvPr/>
        </p:nvSpPr>
        <p:spPr>
          <a:xfrm>
            <a:off x="0" y="0"/>
            <a:ext cx="12191999" cy="73152"/>
          </a:xfrm>
          <a:prstGeom prst="rect">
            <a:avLst/>
          </a:prstGeom>
          <a:solidFill>
            <a:srgbClr val="12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1" name="图片 170"/>
          <p:cNvPicPr/>
          <p:nvPr/>
        </p:nvPicPr>
        <p:blipFill>
          <a:blip r:embed="rId2"/>
          <a:stretch>
            <a:fillRect/>
          </a:stretch>
        </p:blipFill>
        <p:spPr>
          <a:xfrm>
            <a:off x="1100541" y="822960"/>
            <a:ext cx="9990917" cy="544959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TextBox 1"/>
          <p:cNvSpPr txBox="1"/>
          <p:nvPr/>
        </p:nvSpPr>
        <p:spPr>
          <a:xfrm>
            <a:off x="594360" y="320040"/>
            <a:ext cx="1088136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400" b="1">
                <a:solidFill>
                  <a:srgbClr val="111827"/>
                </a:solidFill>
                <a:latin typeface="Arial"/>
              </a:defRPr>
            </a:pPr>
            <a:r>
              <a:rPr>
                <a:latin typeface="Arial"/>
              </a:rPr>
              <a:t>Knowledge Base Construction</a:t>
            </a:r>
            <a:endParaRPr/>
          </a:p>
        </p:txBody>
      </p:sp>
      <p:sp>
        <p:nvSpPr>
          <p:cNvPr id="174" name="Rectangle 2"/>
          <p:cNvSpPr/>
          <p:nvPr/>
        </p:nvSpPr>
        <p:spPr>
          <a:xfrm>
            <a:off x="0" y="0"/>
            <a:ext cx="12191999" cy="73152"/>
          </a:xfrm>
          <a:prstGeom prst="rect">
            <a:avLst/>
          </a:prstGeom>
          <a:solidFill>
            <a:srgbClr val="12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75" name="组合 174"/>
          <p:cNvGrpSpPr/>
          <p:nvPr/>
        </p:nvGrpSpPr>
        <p:grpSpPr>
          <a:xfrm>
            <a:off x="489931" y="2428876"/>
            <a:ext cx="3389723" cy="2000249"/>
            <a:chOff x="500169" y="1177153"/>
            <a:chExt cx="4102100" cy="2516642"/>
          </a:xfrm>
        </p:grpSpPr>
        <p:pic>
          <p:nvPicPr>
            <p:cNvPr id="176" name="图片 17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00169" y="2798445"/>
              <a:ext cx="4102100" cy="895350"/>
            </a:xfrm>
            <a:prstGeom prst="rect">
              <a:avLst/>
            </a:prstGeom>
            <a:ln w="9525">
              <a:solidFill>
                <a:schemeClr val="bg1">
                  <a:lumMod val="50000"/>
                  <a:alpha val="100000"/>
                </a:schemeClr>
              </a:solidFill>
            </a:ln>
          </p:spPr>
        </p:pic>
        <p:pic>
          <p:nvPicPr>
            <p:cNvPr id="177" name="图片 176"/>
            <p:cNvPicPr>
              <a:picLocks noChangeAspect="1"/>
            </p:cNvPicPr>
            <p:nvPr/>
          </p:nvPicPr>
          <p:blipFill>
            <a:blip r:embed="rId3"/>
            <a:srcRect t="8597" b="9552"/>
            <a:stretch>
              <a:fillRect/>
            </a:stretch>
          </p:blipFill>
          <p:spPr>
            <a:xfrm>
              <a:off x="500169" y="1780217"/>
              <a:ext cx="4102100" cy="1031219"/>
            </a:xfrm>
            <a:prstGeom prst="rect">
              <a:avLst/>
            </a:prstGeom>
            <a:ln w="9525">
              <a:solidFill>
                <a:schemeClr val="bg1">
                  <a:lumMod val="50000"/>
                  <a:alpha val="100000"/>
                </a:schemeClr>
              </a:solidFill>
            </a:ln>
          </p:spPr>
        </p:pic>
        <p:pic>
          <p:nvPicPr>
            <p:cNvPr id="178" name="图片 177"/>
            <p:cNvPicPr>
              <a:picLocks noChangeAspect="1"/>
            </p:cNvPicPr>
            <p:nvPr/>
          </p:nvPicPr>
          <p:blipFill>
            <a:blip r:embed="rId4"/>
            <a:srcRect t="15163" r="176" b="20217"/>
            <a:stretch>
              <a:fillRect/>
            </a:stretch>
          </p:blipFill>
          <p:spPr>
            <a:xfrm>
              <a:off x="500169" y="1177153"/>
              <a:ext cx="4102100" cy="603064"/>
            </a:xfrm>
            <a:prstGeom prst="rect">
              <a:avLst/>
            </a:prstGeom>
            <a:ln w="9525">
              <a:solidFill>
                <a:schemeClr val="bg1">
                  <a:lumMod val="50000"/>
                  <a:alpha val="100000"/>
                </a:schemeClr>
              </a:solidFill>
            </a:ln>
          </p:spPr>
        </p:pic>
      </p:grpSp>
      <p:pic>
        <p:nvPicPr>
          <p:cNvPr id="179" name="图片 178"/>
          <p:cNvPicPr>
            <a:picLocks noChangeAspect="1"/>
          </p:cNvPicPr>
          <p:nvPr/>
        </p:nvPicPr>
        <p:blipFill>
          <a:blip r:embed="rId5"/>
          <a:srcRect r="20951"/>
          <a:stretch>
            <a:fillRect/>
          </a:stretch>
        </p:blipFill>
        <p:spPr>
          <a:xfrm>
            <a:off x="4291977" y="2428875"/>
            <a:ext cx="3608044" cy="2000250"/>
          </a:xfrm>
          <a:prstGeom prst="rect">
            <a:avLst/>
          </a:prstGeom>
        </p:spPr>
      </p:pic>
      <p:pic>
        <p:nvPicPr>
          <p:cNvPr id="180" name="图片 17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9738" y="2428876"/>
            <a:ext cx="3212520" cy="2000249"/>
          </a:xfrm>
          <a:prstGeom prst="rect">
            <a:avLst/>
          </a:prstGeom>
          <a:ln w="12700">
            <a:solidFill>
              <a:schemeClr val="bg1">
                <a:lumMod val="50000"/>
                <a:alpha val="100000"/>
              </a:schemeClr>
            </a:solidFill>
            <a:prstDash val="solid"/>
          </a:ln>
        </p:spPr>
      </p:pic>
      <p:sp>
        <p:nvSpPr>
          <p:cNvPr id="181" name="文本框 180"/>
          <p:cNvSpPr txBox="1"/>
          <p:nvPr/>
        </p:nvSpPr>
        <p:spPr>
          <a:xfrm>
            <a:off x="594360" y="1069848"/>
            <a:ext cx="10239106" cy="641350"/>
          </a:xfrm>
          <a:prstGeom prst="rect">
            <a:avLst/>
          </a:prstGeom>
          <a:ln w="12700">
            <a:solidFill>
              <a:schemeClr val="bg1">
                <a:lumMod val="50000"/>
                <a:alpha val="100000"/>
              </a:schemeClr>
            </a:solidFill>
            <a:prstDash val="solid"/>
          </a:ln>
        </p:spPr>
        <p:txBody>
          <a:bodyPr>
            <a:spAutoFit/>
          </a:bodyPr>
          <a:lstStyle/>
          <a:p>
            <a:r>
              <a:rPr lang="en-US"/>
              <a:t>Data pipeline: </a:t>
            </a:r>
            <a:r>
              <a:rPr>
                <a:latin typeface="Arial"/>
                <a:ea typeface="宋体"/>
                <a:cs typeface="+mn-cs"/>
              </a:rPr>
              <a:t>Crawl SUSTech-related official pages → Clean and normalize web content → Convert content into QA-style records → Store source title and URL → Build dense FAISS index</a:t>
            </a:r>
            <a:endParaRPr/>
          </a:p>
        </p:txBody>
      </p:sp>
      <p:sp>
        <p:nvSpPr>
          <p:cNvPr id="182" name="文本框 181"/>
          <p:cNvSpPr txBox="1"/>
          <p:nvPr/>
        </p:nvSpPr>
        <p:spPr>
          <a:xfrm>
            <a:off x="940044" y="4564010"/>
            <a:ext cx="2397516" cy="368299"/>
          </a:xfrm>
          <a:prstGeom prst="rect">
            <a:avLst/>
          </a:prstGeom>
          <a:ln w="12700">
            <a:prstDash val="solid"/>
          </a:ln>
        </p:spPr>
        <p:txBody>
          <a:bodyPr>
            <a:spAutoFit/>
          </a:bodyPr>
          <a:lstStyle/>
          <a:p>
            <a:r>
              <a:rPr lang="en-US"/>
              <a:t>Row data from websides</a:t>
            </a:r>
            <a:endParaRPr/>
          </a:p>
        </p:txBody>
      </p:sp>
      <p:sp>
        <p:nvSpPr>
          <p:cNvPr id="183" name="文本框 182"/>
          <p:cNvSpPr txBox="1"/>
          <p:nvPr/>
        </p:nvSpPr>
        <p:spPr>
          <a:xfrm>
            <a:off x="4701886" y="4427485"/>
            <a:ext cx="2941820" cy="641350"/>
          </a:xfrm>
          <a:prstGeom prst="rect">
            <a:avLst/>
          </a:prstGeom>
          <a:ln w="12700">
            <a:prstDash val="solid"/>
          </a:ln>
        </p:spPr>
        <p:txBody>
          <a:bodyPr>
            <a:spAutoFit/>
          </a:bodyPr>
          <a:lstStyle/>
          <a:p>
            <a:r>
              <a:rPr lang="en-US"/>
              <a:t>Save clean and normalized content &amp; meta data</a:t>
            </a:r>
            <a:endParaRPr/>
          </a:p>
        </p:txBody>
      </p:sp>
      <p:sp>
        <p:nvSpPr>
          <p:cNvPr id="184" name="文本框 183"/>
          <p:cNvSpPr txBox="1"/>
          <p:nvPr/>
        </p:nvSpPr>
        <p:spPr>
          <a:xfrm>
            <a:off x="8778240" y="4565650"/>
            <a:ext cx="2946400" cy="368300"/>
          </a:xfrm>
          <a:prstGeom prst="rect">
            <a:avLst/>
          </a:prstGeom>
          <a:ln w="12700">
            <a:prstDash val="solid"/>
          </a:ln>
        </p:spPr>
        <p:txBody>
          <a:bodyPr>
            <a:spAutoFit/>
          </a:bodyPr>
          <a:lstStyle/>
          <a:p>
            <a:r>
              <a:rPr lang="en-US"/>
              <a:t>Get QA pairs and FAISS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10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6" name="组合 185"/>
          <p:cNvGrpSpPr/>
          <p:nvPr/>
        </p:nvGrpSpPr>
        <p:grpSpPr>
          <a:xfrm>
            <a:off x="398811" y="3307997"/>
            <a:ext cx="4052357" cy="2651125"/>
            <a:chOff x="459952" y="2871117"/>
            <a:chExt cx="4052357" cy="2651125"/>
          </a:xfrm>
        </p:grpSpPr>
        <p:sp>
          <p:nvSpPr>
            <p:cNvPr id="187" name="Rounded Rectangle 3"/>
            <p:cNvSpPr/>
            <p:nvPr/>
          </p:nvSpPr>
          <p:spPr>
            <a:xfrm>
              <a:off x="459952" y="2871752"/>
              <a:ext cx="3972560" cy="2176145"/>
            </a:xfrm>
            <a:prstGeom prst="roundRect">
              <a:avLst/>
            </a:prstGeom>
            <a:solidFill>
              <a:srgbClr val="E8F2FF"/>
            </a:solidFill>
            <a:ln>
              <a:solidFill>
                <a:srgbClr val="D2D8E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8" name="Rounded Rectangle 4"/>
            <p:cNvSpPr/>
            <p:nvPr/>
          </p:nvSpPr>
          <p:spPr>
            <a:xfrm>
              <a:off x="459952" y="2871117"/>
              <a:ext cx="3972560" cy="436880"/>
            </a:xfrm>
            <a:prstGeom prst="roundRect">
              <a:avLst/>
            </a:prstGeom>
            <a:solidFill>
              <a:srgbClr val="124E7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9" name="TextBox 5"/>
            <p:cNvSpPr txBox="1"/>
            <p:nvPr/>
          </p:nvSpPr>
          <p:spPr>
            <a:xfrm>
              <a:off x="624417" y="2926362"/>
              <a:ext cx="3615690" cy="287020"/>
            </a:xfrm>
            <a:prstGeom prst="rect">
              <a:avLst/>
            </a:prstGeom>
            <a:noFill/>
          </p:spPr>
          <p:txBody>
            <a:bodyPr wrap="square">
              <a:noAutofit/>
            </a:bodyPr>
            <a:lstStyle/>
            <a:p>
              <a:pPr algn="ctr">
                <a:defRPr sz="1200" b="1">
                  <a:solidFill>
                    <a:srgbClr val="FFFFFF">
                      <a:alpha val="100000"/>
                    </a:srgbClr>
                  </a:solidFill>
                  <a:latin typeface="Arial"/>
                  <a:ea typeface="微软雅黑"/>
                  <a:cs typeface="+mn-cs"/>
                </a:defRPr>
              </a:pPr>
              <a:r>
                <a:rPr sz="1800">
                  <a:latin typeface="Arial"/>
                  <a:ea typeface="微软雅黑"/>
                  <a:cs typeface="+mn-cs"/>
                </a:rPr>
                <a:t>Coverage discovery</a:t>
              </a:r>
              <a:endParaRPr/>
            </a:p>
          </p:txBody>
        </p:sp>
        <p:sp>
          <p:nvSpPr>
            <p:cNvPr id="190" name="TextBox 6"/>
            <p:cNvSpPr txBox="1"/>
            <p:nvPr/>
          </p:nvSpPr>
          <p:spPr>
            <a:xfrm>
              <a:off x="539750" y="3429000"/>
              <a:ext cx="3972559" cy="2093242"/>
            </a:xfrm>
            <a:prstGeom prst="rect">
              <a:avLst/>
            </a:prstGeom>
            <a:noFill/>
          </p:spPr>
          <p:txBody>
            <a:bodyPr wrap="square">
              <a:normAutofit/>
            </a:bodyPr>
            <a:lstStyle/>
            <a:p>
              <a:pPr>
                <a:defRPr sz="1200" b="0">
                  <a:solidFill>
                    <a:srgbClr val="111827">
                      <a:alpha val="100000"/>
                    </a:srgbClr>
                  </a:solidFill>
                  <a:latin typeface="Arial"/>
                  <a:ea typeface="微软雅黑"/>
                  <a:cs typeface="+mn-cs"/>
                </a:defRPr>
              </a:pPr>
              <a:r>
                <a:rPr lang="en-US" sz="1800">
                  <a:latin typeface="Arial"/>
                  <a:ea typeface="微软雅黑"/>
                  <a:cs typeface="+mn-cs"/>
                </a:rPr>
                <a:t>H</a:t>
              </a:r>
              <a:r>
                <a:rPr sz="1800">
                  <a:latin typeface="Arial"/>
                  <a:ea typeface="微软雅黑"/>
                  <a:cs typeface="+mn-cs"/>
                </a:rPr>
                <a:t>igh-value SUSTech seed URLs
AI-generated/given search keywords
</a:t>
              </a:r>
              <a:r>
                <a:rPr lang="en-US" sz="1800">
                  <a:latin typeface="Arial"/>
                  <a:ea typeface="微软雅黑"/>
                  <a:cs typeface="+mn-cs"/>
                </a:rPr>
                <a:t>O</a:t>
              </a:r>
              <a:r>
                <a:rPr sz="1800">
                  <a:latin typeface="Arial"/>
                  <a:ea typeface="微软雅黑"/>
                  <a:cs typeface="+mn-cs"/>
                </a:rPr>
                <a:t>fficial-domain whitelist
</a:t>
              </a:r>
              <a:r>
                <a:rPr lang="en-US" sz="1800">
                  <a:latin typeface="Arial"/>
                  <a:ea typeface="微软雅黑"/>
                  <a:cs typeface="+mn-cs"/>
                </a:rPr>
                <a:t>W</a:t>
              </a:r>
              <a:r>
                <a:rPr sz="1800">
                  <a:latin typeface="Arial"/>
                  <a:ea typeface="微软雅黑"/>
                  <a:cs typeface="+mn-cs"/>
                </a:rPr>
                <a:t>eb search plus internal links
1 to 2 depth recursive crawling</a:t>
              </a:r>
              <a:endParaRPr/>
            </a:p>
          </p:txBody>
        </p:sp>
      </p:grpSp>
      <p:grpSp>
        <p:nvGrpSpPr>
          <p:cNvPr id="191" name="组合 190"/>
          <p:cNvGrpSpPr/>
          <p:nvPr/>
        </p:nvGrpSpPr>
        <p:grpSpPr>
          <a:xfrm>
            <a:off x="3137747" y="757026"/>
            <a:ext cx="6086475" cy="1734185"/>
            <a:chOff x="3137747" y="664492"/>
            <a:chExt cx="6086475" cy="1734185"/>
          </a:xfrm>
        </p:grpSpPr>
        <p:sp>
          <p:nvSpPr>
            <p:cNvPr id="192" name="Rounded Rectangle 7"/>
            <p:cNvSpPr/>
            <p:nvPr/>
          </p:nvSpPr>
          <p:spPr>
            <a:xfrm>
              <a:off x="3137747" y="664492"/>
              <a:ext cx="6086475" cy="1708150"/>
            </a:xfrm>
            <a:prstGeom prst="roundRect">
              <a:avLst/>
            </a:prstGeom>
            <a:solidFill>
              <a:srgbClr val="FFF4E6"/>
            </a:solidFill>
            <a:ln>
              <a:solidFill>
                <a:srgbClr val="D2D8E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93" name="Rounded Rectangle 8"/>
            <p:cNvSpPr/>
            <p:nvPr/>
          </p:nvSpPr>
          <p:spPr>
            <a:xfrm>
              <a:off x="3137747" y="664492"/>
              <a:ext cx="6086475" cy="359410"/>
            </a:xfrm>
            <a:prstGeom prst="roundRect">
              <a:avLst/>
            </a:prstGeom>
            <a:solidFill>
              <a:srgbClr val="D9770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94" name="TextBox 9"/>
            <p:cNvSpPr txBox="1"/>
            <p:nvPr/>
          </p:nvSpPr>
          <p:spPr>
            <a:xfrm>
              <a:off x="3302212" y="719102"/>
              <a:ext cx="5539740" cy="236854"/>
            </a:xfrm>
            <a:prstGeom prst="rect">
              <a:avLst/>
            </a:prstGeom>
            <a:noFill/>
          </p:spPr>
          <p:txBody>
            <a:bodyPr wrap="square">
              <a:noAutofit/>
            </a:bodyPr>
            <a:lstStyle/>
            <a:p>
              <a:pPr algn="ctr">
                <a:defRPr sz="1200" b="1">
                  <a:solidFill>
                    <a:srgbClr val="FFFFFF"/>
                  </a:solidFill>
                  <a:latin typeface="Arial" panose="020B0604020202020204"/>
                </a:defRPr>
              </a:pPr>
              <a:r>
                <a:rPr sz="1800" dirty="0">
                  <a:latin typeface="Arial" panose="020B0604020202020204"/>
                </a:rPr>
                <a:t>Quality control</a:t>
              </a:r>
            </a:p>
          </p:txBody>
        </p:sp>
        <p:sp>
          <p:nvSpPr>
            <p:cNvPr id="195" name="TextBox 10"/>
            <p:cNvSpPr txBox="1"/>
            <p:nvPr/>
          </p:nvSpPr>
          <p:spPr>
            <a:xfrm>
              <a:off x="3339042" y="1167412"/>
              <a:ext cx="5885180" cy="1231265"/>
            </a:xfrm>
            <a:prstGeom prst="rect">
              <a:avLst/>
            </a:prstGeom>
            <a:noFill/>
          </p:spPr>
          <p:txBody>
            <a:bodyPr wrap="square">
              <a:noAutofit/>
            </a:bodyPr>
            <a:lstStyle/>
            <a:p>
              <a:pPr>
                <a:defRPr sz="1200" b="0">
                  <a:solidFill>
                    <a:srgbClr val="111827">
                      <a:alpha val="100000"/>
                    </a:srgbClr>
                  </a:solidFill>
                  <a:latin typeface="Arial"/>
                  <a:ea typeface="微软雅黑"/>
                  <a:cs typeface="+mn-cs"/>
                </a:defRPr>
              </a:pPr>
              <a:r>
                <a:rPr lang="en-US" sz="1800">
                  <a:latin typeface="Arial"/>
                  <a:ea typeface="微软雅黑"/>
                  <a:cs typeface="+mn-cs"/>
                </a:rPr>
                <a:t>A</a:t>
              </a:r>
              <a:r>
                <a:rPr sz="1800">
                  <a:latin typeface="Arial"/>
                  <a:ea typeface="微软雅黑"/>
                  <a:cs typeface="+mn-cs"/>
                </a:rPr>
                <a:t>ppend-only crawl state</a:t>
              </a:r>
              <a:r>
                <a:rPr lang="en-US" sz="1800">
                  <a:latin typeface="Arial"/>
                  <a:ea typeface="微软雅黑"/>
                  <a:cs typeface="+mn-cs"/>
                </a:rPr>
                <a:t> </a:t>
              </a:r>
              <a:r>
                <a:rPr sz="1800">
                  <a:latin typeface="Arial"/>
                  <a:ea typeface="微软雅黑"/>
                  <a:cs typeface="+mn-cs"/>
                </a:rPr>
                <a:t>normalized
</a:t>
              </a:r>
              <a:r>
                <a:rPr lang="en-US" sz="1800">
                  <a:latin typeface="Arial"/>
                  <a:ea typeface="微软雅黑"/>
                  <a:cs typeface="+mn-cs"/>
                </a:rPr>
                <a:t>D</a:t>
              </a:r>
              <a:r>
                <a:rPr sz="1800">
                  <a:latin typeface="Arial"/>
                  <a:ea typeface="微软雅黑"/>
                  <a:cs typeface="+mn-cs"/>
                </a:rPr>
                <a:t>ocument content-hash deduplication</a:t>
              </a:r>
              <a:endParaRPr/>
            </a:p>
            <a:p>
              <a:pPr>
                <a:defRPr sz="1200" b="0">
                  <a:solidFill>
                    <a:srgbClr val="111827">
                      <a:alpha val="100000"/>
                    </a:srgbClr>
                  </a:solidFill>
                  <a:latin typeface="Arial"/>
                  <a:ea typeface="微软雅黑"/>
                  <a:cs typeface="+mn-cs"/>
                </a:defRPr>
              </a:pPr>
              <a:r>
                <a:rPr lang="en-US" sz="1800">
                  <a:latin typeface="Arial"/>
                  <a:ea typeface="微软雅黑"/>
                  <a:cs typeface="+mn-cs"/>
                </a:rPr>
                <a:t>F</a:t>
              </a:r>
              <a:r>
                <a:rPr sz="1800">
                  <a:latin typeface="Arial"/>
                  <a:ea typeface="微软雅黑"/>
                  <a:cs typeface="+mn-cs"/>
                </a:rPr>
                <a:t>ailed/skipped URL recording</a:t>
              </a:r>
              <a:endParaRPr/>
            </a:p>
          </p:txBody>
        </p:sp>
      </p:grpSp>
      <p:grpSp>
        <p:nvGrpSpPr>
          <p:cNvPr id="196" name="组合 195"/>
          <p:cNvGrpSpPr/>
          <p:nvPr/>
        </p:nvGrpSpPr>
        <p:grpSpPr>
          <a:xfrm>
            <a:off x="8062353" y="3307997"/>
            <a:ext cx="3999229" cy="2176145"/>
            <a:chOff x="8001212" y="2926362"/>
            <a:chExt cx="3999229" cy="2176145"/>
          </a:xfrm>
        </p:grpSpPr>
        <p:sp>
          <p:nvSpPr>
            <p:cNvPr id="197" name="Rounded Rectangle 11"/>
            <p:cNvSpPr/>
            <p:nvPr/>
          </p:nvSpPr>
          <p:spPr>
            <a:xfrm>
              <a:off x="8001212" y="2926362"/>
              <a:ext cx="3999229" cy="2176145"/>
            </a:xfrm>
            <a:prstGeom prst="roundRect">
              <a:avLst/>
            </a:prstGeom>
            <a:solidFill>
              <a:srgbClr val="E8F8EE"/>
            </a:solidFill>
            <a:ln>
              <a:solidFill>
                <a:srgbClr val="D2D8E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98" name="Rounded Rectangle 12"/>
            <p:cNvSpPr/>
            <p:nvPr/>
          </p:nvSpPr>
          <p:spPr>
            <a:xfrm>
              <a:off x="8001212" y="2926362"/>
              <a:ext cx="3999229" cy="436245"/>
            </a:xfrm>
            <a:prstGeom prst="roundRect">
              <a:avLst/>
            </a:prstGeom>
            <a:solidFill>
              <a:srgbClr val="2E7D3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99" name="TextBox 13"/>
            <p:cNvSpPr txBox="1"/>
            <p:nvPr/>
          </p:nvSpPr>
          <p:spPr>
            <a:xfrm>
              <a:off x="8165677" y="2980972"/>
              <a:ext cx="3639820" cy="287020"/>
            </a:xfrm>
            <a:prstGeom prst="rect">
              <a:avLst/>
            </a:prstGeom>
            <a:noFill/>
          </p:spPr>
          <p:txBody>
            <a:bodyPr wrap="square">
              <a:noAutofit/>
            </a:bodyPr>
            <a:lstStyle/>
            <a:p>
              <a:pPr algn="ctr">
                <a:defRPr sz="1200" b="1">
                  <a:solidFill>
                    <a:srgbClr val="FFFFFF">
                      <a:alpha val="100000"/>
                    </a:srgbClr>
                  </a:solidFill>
                  <a:latin typeface="Arial"/>
                  <a:ea typeface="微软雅黑"/>
                  <a:cs typeface="+mn-cs"/>
                </a:defRPr>
              </a:pPr>
              <a:r>
                <a:rPr sz="1800">
                  <a:latin typeface="Arial"/>
                  <a:ea typeface="微软雅黑"/>
                  <a:cs typeface="+mn-cs"/>
                </a:rPr>
                <a:t>Evident QA</a:t>
              </a:r>
              <a:endParaRPr/>
            </a:p>
          </p:txBody>
        </p:sp>
        <p:sp>
          <p:nvSpPr>
            <p:cNvPr id="200" name="TextBox 14"/>
            <p:cNvSpPr txBox="1"/>
            <p:nvPr/>
          </p:nvSpPr>
          <p:spPr>
            <a:xfrm>
              <a:off x="8109799" y="3570887"/>
              <a:ext cx="3797933" cy="1531620"/>
            </a:xfrm>
            <a:prstGeom prst="rect">
              <a:avLst/>
            </a:prstGeom>
            <a:noFill/>
          </p:spPr>
          <p:txBody>
            <a:bodyPr wrap="square">
              <a:noAutofit/>
            </a:bodyPr>
            <a:lstStyle/>
            <a:p>
              <a:pPr>
                <a:defRPr sz="1200" b="0">
                  <a:solidFill>
                    <a:srgbClr val="111827">
                      <a:alpha val="100000"/>
                    </a:srgbClr>
                  </a:solidFill>
                  <a:latin typeface="Arial"/>
                  <a:ea typeface="微软雅黑"/>
                  <a:cs typeface="+mn-cs"/>
                </a:defRPr>
              </a:pPr>
              <a:r>
                <a:rPr lang="en-US" sz="1800">
                  <a:latin typeface="Arial"/>
                  <a:ea typeface="微软雅黑"/>
                  <a:cs typeface="+mn-cs"/>
                </a:rPr>
                <a:t>D</a:t>
              </a:r>
              <a:r>
                <a:rPr sz="1800">
                  <a:latin typeface="Arial"/>
                  <a:ea typeface="微软雅黑"/>
                  <a:cs typeface="+mn-cs"/>
                </a:rPr>
                <a:t>ocuments → overlapping chunks</a:t>
              </a:r>
              <a:endParaRPr/>
            </a:p>
            <a:p>
              <a:pPr>
                <a:defRPr sz="1200" b="0">
                  <a:solidFill>
                    <a:srgbClr val="111827">
                      <a:alpha val="100000"/>
                    </a:srgbClr>
                  </a:solidFill>
                  <a:latin typeface="Arial"/>
                  <a:ea typeface="微软雅黑"/>
                  <a:cs typeface="+mn-cs"/>
                </a:defRPr>
              </a:pPr>
              <a:r>
                <a:rPr lang="en-US" sz="1800">
                  <a:latin typeface="Arial"/>
                  <a:ea typeface="微软雅黑"/>
                  <a:cs typeface="+mn-cs"/>
                </a:rPr>
                <a:t>G</a:t>
              </a:r>
              <a:r>
                <a:rPr sz="1800">
                  <a:latin typeface="Arial"/>
                  <a:ea typeface="微软雅黑"/>
                  <a:cs typeface="+mn-cs"/>
                </a:rPr>
                <a:t>enerate realistic student-style QA pairs</a:t>
              </a:r>
              <a:endParaRPr/>
            </a:p>
            <a:p>
              <a:pPr>
                <a:defRPr sz="1200" b="0">
                  <a:solidFill>
                    <a:srgbClr val="111827">
                      <a:alpha val="100000"/>
                    </a:srgbClr>
                  </a:solidFill>
                  <a:latin typeface="Arial"/>
                  <a:ea typeface="微软雅黑"/>
                  <a:cs typeface="+mn-cs"/>
                </a:defRPr>
              </a:pPr>
              <a:r>
                <a:rPr lang="en-US" sz="1800">
                  <a:latin typeface="Arial"/>
                  <a:ea typeface="微软雅黑"/>
                  <a:cs typeface="+mn-cs"/>
                </a:rPr>
                <a:t>A</a:t>
              </a:r>
              <a:r>
                <a:rPr sz="1800">
                  <a:latin typeface="Arial"/>
                  <a:ea typeface="微软雅黑"/>
                  <a:cs typeface="+mn-cs"/>
                </a:rPr>
                <a:t>ttach title, URL, category, evidence</a:t>
              </a:r>
              <a:endParaRPr/>
            </a:p>
          </p:txBody>
        </p:sp>
      </p:grpSp>
      <p:sp>
        <p:nvSpPr>
          <p:cNvPr id="201" name="TextBox 1"/>
          <p:cNvSpPr txBox="1"/>
          <p:nvPr/>
        </p:nvSpPr>
        <p:spPr>
          <a:xfrm>
            <a:off x="539750" y="301308"/>
            <a:ext cx="1088136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400" b="1">
                <a:solidFill>
                  <a:srgbClr val="111827">
                    <a:alpha val="100000"/>
                  </a:srgbClr>
                </a:solidFill>
                <a:latin typeface="Arial"/>
                <a:ea typeface="微软雅黑"/>
                <a:cs typeface="+mn-cs"/>
              </a:defRPr>
            </a:pPr>
            <a:r>
              <a:rPr lang="en-US">
                <a:latin typeface="Arial"/>
                <a:ea typeface="微软雅黑"/>
                <a:cs typeface="+mn-cs"/>
              </a:rPr>
              <a:t>AI QA Collector</a:t>
            </a:r>
            <a:endParaRPr/>
          </a:p>
        </p:txBody>
      </p:sp>
      <p:pic>
        <p:nvPicPr>
          <p:cNvPr id="202" name="图片 20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1117" y="2491211"/>
            <a:ext cx="2959735" cy="293722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TextBox 1"/>
          <p:cNvSpPr txBox="1"/>
          <p:nvPr/>
        </p:nvSpPr>
        <p:spPr>
          <a:xfrm>
            <a:off x="594360" y="320040"/>
            <a:ext cx="1088136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400" b="1">
                <a:solidFill>
                  <a:srgbClr val="111827"/>
                </a:solidFill>
                <a:latin typeface="Arial"/>
              </a:defRPr>
            </a:pPr>
            <a:r>
              <a:rPr>
                <a:latin typeface="Arial"/>
              </a:rPr>
              <a:t>Model and Deployment Configuration</a:t>
            </a:r>
            <a:endParaRPr/>
          </a:p>
        </p:txBody>
      </p:sp>
      <p:sp>
        <p:nvSpPr>
          <p:cNvPr id="205" name="Rectangle 2"/>
          <p:cNvSpPr/>
          <p:nvPr/>
        </p:nvSpPr>
        <p:spPr>
          <a:xfrm>
            <a:off x="0" y="0"/>
            <a:ext cx="12191999" cy="73152"/>
          </a:xfrm>
          <a:prstGeom prst="rect">
            <a:avLst/>
          </a:prstGeom>
          <a:solidFill>
            <a:srgbClr val="12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206" name="组合 205"/>
          <p:cNvGrpSpPr/>
          <p:nvPr/>
        </p:nvGrpSpPr>
        <p:grpSpPr>
          <a:xfrm>
            <a:off x="384781" y="1051560"/>
            <a:ext cx="11382045" cy="4389120"/>
            <a:chOff x="822959" y="1051560"/>
            <a:chExt cx="10719683" cy="3575304"/>
          </a:xfrm>
        </p:grpSpPr>
        <p:sp>
          <p:nvSpPr>
            <p:cNvPr id="207" name="Rectangle 3"/>
            <p:cNvSpPr/>
            <p:nvPr/>
          </p:nvSpPr>
          <p:spPr>
            <a:xfrm>
              <a:off x="822959" y="1051560"/>
              <a:ext cx="10719683" cy="502920"/>
            </a:xfrm>
            <a:prstGeom prst="rect">
              <a:avLst/>
            </a:prstGeom>
            <a:solidFill>
              <a:srgbClr val="E8F2FF"/>
            </a:solidFill>
            <a:ln>
              <a:solidFill>
                <a:srgbClr val="E1E6E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08" name="TextBox 4"/>
            <p:cNvSpPr txBox="1"/>
            <p:nvPr/>
          </p:nvSpPr>
          <p:spPr>
            <a:xfrm>
              <a:off x="960119" y="1124711"/>
              <a:ext cx="1864293" cy="239485"/>
            </a:xfrm>
            <a:prstGeom prst="rect">
              <a:avLst/>
            </a:prstGeom>
            <a:noFill/>
          </p:spPr>
          <p:txBody>
            <a:bodyPr wrap="square">
              <a:noAutofit/>
            </a:bodyPr>
            <a:lstStyle/>
            <a:p>
              <a:pPr>
                <a:defRPr sz="900" b="1">
                  <a:solidFill>
                    <a:srgbClr val="124E78"/>
                  </a:solidFill>
                  <a:latin typeface="Arial"/>
                </a:defRPr>
              </a:pPr>
              <a:r>
                <a:rPr sz="1200" dirty="0">
                  <a:latin typeface="Arial"/>
                </a:rPr>
                <a:t>Generator</a:t>
              </a:r>
              <a:endParaRPr/>
            </a:p>
          </p:txBody>
        </p:sp>
        <p:sp>
          <p:nvSpPr>
            <p:cNvPr id="209" name="TextBox 5"/>
            <p:cNvSpPr txBox="1"/>
            <p:nvPr/>
          </p:nvSpPr>
          <p:spPr>
            <a:xfrm>
              <a:off x="2743199" y="1124711"/>
              <a:ext cx="8202888" cy="239485"/>
            </a:xfrm>
            <a:prstGeom prst="rect">
              <a:avLst/>
            </a:prstGeom>
            <a:noFill/>
          </p:spPr>
          <p:txBody>
            <a:bodyPr wrap="square">
              <a:noAutofit/>
            </a:bodyPr>
            <a:lstStyle/>
            <a:p>
              <a:pPr>
                <a:defRPr sz="900" b="0">
                  <a:solidFill>
                    <a:srgbClr val="111827"/>
                  </a:solidFill>
                  <a:latin typeface="Arial"/>
                </a:defRPr>
              </a:pPr>
              <a:r>
                <a:rPr sz="1200" dirty="0">
                  <a:latin typeface="Arial"/>
                </a:rPr>
                <a:t>Qwen3-32B served by </a:t>
              </a:r>
              <a:r>
                <a:rPr sz="1200" dirty="0" err="1">
                  <a:latin typeface="Arial"/>
                </a:rPr>
                <a:t>vLLM</a:t>
              </a:r>
              <a:r>
                <a:rPr sz="1200" dirty="0">
                  <a:latin typeface="Arial"/>
                </a:rPr>
                <a:t> as qwen3-32b</a:t>
              </a:r>
              <a:endParaRPr/>
            </a:p>
          </p:txBody>
        </p:sp>
        <p:sp>
          <p:nvSpPr>
            <p:cNvPr id="210" name="Rectangle 6"/>
            <p:cNvSpPr/>
            <p:nvPr/>
          </p:nvSpPr>
          <p:spPr>
            <a:xfrm>
              <a:off x="822959" y="1490472"/>
              <a:ext cx="10719683" cy="502920"/>
            </a:xfrm>
            <a:prstGeom prst="rect">
              <a:avLst/>
            </a:prstGeom>
            <a:solidFill>
              <a:srgbClr val="F5F7FA"/>
            </a:solidFill>
            <a:ln>
              <a:solidFill>
                <a:srgbClr val="E1E6E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11" name="TextBox 7"/>
            <p:cNvSpPr txBox="1"/>
            <p:nvPr/>
          </p:nvSpPr>
          <p:spPr>
            <a:xfrm>
              <a:off x="960119" y="1590186"/>
              <a:ext cx="1864293" cy="239485"/>
            </a:xfrm>
            <a:prstGeom prst="rect">
              <a:avLst/>
            </a:prstGeom>
            <a:noFill/>
          </p:spPr>
          <p:txBody>
            <a:bodyPr wrap="square">
              <a:noAutofit/>
            </a:bodyPr>
            <a:lstStyle/>
            <a:p>
              <a:pPr>
                <a:defRPr sz="900" b="1">
                  <a:solidFill>
                    <a:srgbClr val="124E78"/>
                  </a:solidFill>
                  <a:latin typeface="Arial"/>
                </a:defRPr>
              </a:pPr>
              <a:r>
                <a:rPr sz="1200" dirty="0">
                  <a:latin typeface="Arial"/>
                </a:rPr>
                <a:t>Embedding</a:t>
              </a:r>
              <a:endParaRPr/>
            </a:p>
          </p:txBody>
        </p:sp>
        <p:sp>
          <p:nvSpPr>
            <p:cNvPr id="212" name="TextBox 8"/>
            <p:cNvSpPr txBox="1"/>
            <p:nvPr/>
          </p:nvSpPr>
          <p:spPr>
            <a:xfrm>
              <a:off x="2743199" y="1563623"/>
              <a:ext cx="8202888" cy="239485"/>
            </a:xfrm>
            <a:prstGeom prst="rect">
              <a:avLst/>
            </a:prstGeom>
            <a:noFill/>
          </p:spPr>
          <p:txBody>
            <a:bodyPr wrap="square">
              <a:noAutofit/>
            </a:bodyPr>
            <a:lstStyle/>
            <a:p>
              <a:pPr>
                <a:defRPr sz="900" b="0">
                  <a:solidFill>
                    <a:srgbClr val="111827"/>
                  </a:solidFill>
                  <a:latin typeface="Arial"/>
                </a:defRPr>
              </a:pPr>
              <a:r>
                <a:rPr sz="1200" dirty="0">
                  <a:latin typeface="Arial"/>
                </a:rPr>
                <a:t>Qwen3-Embedding-0.6B</a:t>
              </a:r>
              <a:endParaRPr/>
            </a:p>
          </p:txBody>
        </p:sp>
        <p:sp>
          <p:nvSpPr>
            <p:cNvPr id="213" name="Rectangle 9"/>
            <p:cNvSpPr/>
            <p:nvPr/>
          </p:nvSpPr>
          <p:spPr>
            <a:xfrm>
              <a:off x="822959" y="1929384"/>
              <a:ext cx="10719683" cy="502920"/>
            </a:xfrm>
            <a:prstGeom prst="rect">
              <a:avLst/>
            </a:prstGeom>
            <a:solidFill>
              <a:srgbClr val="E8F2FF"/>
            </a:solidFill>
            <a:ln>
              <a:solidFill>
                <a:srgbClr val="E1E6E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14" name="TextBox 10"/>
            <p:cNvSpPr txBox="1"/>
            <p:nvPr/>
          </p:nvSpPr>
          <p:spPr>
            <a:xfrm>
              <a:off x="960119" y="2002535"/>
              <a:ext cx="1864293" cy="239485"/>
            </a:xfrm>
            <a:prstGeom prst="rect">
              <a:avLst/>
            </a:prstGeom>
            <a:noFill/>
          </p:spPr>
          <p:txBody>
            <a:bodyPr wrap="square">
              <a:noAutofit/>
            </a:bodyPr>
            <a:lstStyle/>
            <a:p>
              <a:pPr>
                <a:defRPr sz="900" b="1">
                  <a:solidFill>
                    <a:srgbClr val="124E78"/>
                  </a:solidFill>
                  <a:latin typeface="Arial"/>
                </a:defRPr>
              </a:pPr>
              <a:r>
                <a:rPr sz="1200" dirty="0">
                  <a:latin typeface="Arial"/>
                </a:rPr>
                <a:t>Vector index</a:t>
              </a:r>
              <a:endParaRPr/>
            </a:p>
          </p:txBody>
        </p:sp>
        <p:sp>
          <p:nvSpPr>
            <p:cNvPr id="215" name="TextBox 11"/>
            <p:cNvSpPr txBox="1"/>
            <p:nvPr/>
          </p:nvSpPr>
          <p:spPr>
            <a:xfrm>
              <a:off x="2743199" y="2002535"/>
              <a:ext cx="8202888" cy="239485"/>
            </a:xfrm>
            <a:prstGeom prst="rect">
              <a:avLst/>
            </a:prstGeom>
            <a:noFill/>
          </p:spPr>
          <p:txBody>
            <a:bodyPr wrap="square">
              <a:noAutofit/>
            </a:bodyPr>
            <a:lstStyle/>
            <a:p>
              <a:pPr>
                <a:defRPr sz="900" b="0">
                  <a:solidFill>
                    <a:srgbClr val="111827"/>
                  </a:solidFill>
                  <a:latin typeface="Arial"/>
                </a:defRPr>
              </a:pPr>
              <a:r>
                <a:rPr sz="1200" dirty="0">
                  <a:latin typeface="Arial"/>
                </a:rPr>
                <a:t>FAISS dense index</a:t>
              </a:r>
              <a:endParaRPr/>
            </a:p>
          </p:txBody>
        </p:sp>
        <p:sp>
          <p:nvSpPr>
            <p:cNvPr id="216" name="Rectangle 12"/>
            <p:cNvSpPr/>
            <p:nvPr/>
          </p:nvSpPr>
          <p:spPr>
            <a:xfrm>
              <a:off x="822959" y="2368296"/>
              <a:ext cx="10719683" cy="502920"/>
            </a:xfrm>
            <a:prstGeom prst="rect">
              <a:avLst/>
            </a:prstGeom>
            <a:solidFill>
              <a:srgbClr val="F5F7FA"/>
            </a:solidFill>
            <a:ln>
              <a:solidFill>
                <a:srgbClr val="E1E6E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17" name="TextBox 13"/>
            <p:cNvSpPr txBox="1"/>
            <p:nvPr/>
          </p:nvSpPr>
          <p:spPr>
            <a:xfrm>
              <a:off x="960119" y="2441447"/>
              <a:ext cx="1864293" cy="239485"/>
            </a:xfrm>
            <a:prstGeom prst="rect">
              <a:avLst/>
            </a:prstGeom>
            <a:noFill/>
          </p:spPr>
          <p:txBody>
            <a:bodyPr wrap="square">
              <a:noAutofit/>
            </a:bodyPr>
            <a:lstStyle/>
            <a:p>
              <a:pPr>
                <a:defRPr sz="900" b="1">
                  <a:solidFill>
                    <a:srgbClr val="124E78"/>
                  </a:solidFill>
                  <a:latin typeface="Arial"/>
                </a:defRPr>
              </a:pPr>
              <a:r>
                <a:rPr sz="1200" dirty="0">
                  <a:latin typeface="Arial"/>
                </a:rPr>
                <a:t>Retriever</a:t>
              </a:r>
              <a:endParaRPr/>
            </a:p>
          </p:txBody>
        </p:sp>
        <p:sp>
          <p:nvSpPr>
            <p:cNvPr id="218" name="TextBox 14"/>
            <p:cNvSpPr txBox="1"/>
            <p:nvPr/>
          </p:nvSpPr>
          <p:spPr>
            <a:xfrm>
              <a:off x="2743199" y="2441447"/>
              <a:ext cx="8202888" cy="239485"/>
            </a:xfrm>
            <a:prstGeom prst="rect">
              <a:avLst/>
            </a:prstGeom>
            <a:noFill/>
          </p:spPr>
          <p:txBody>
            <a:bodyPr wrap="square">
              <a:noAutofit/>
            </a:bodyPr>
            <a:lstStyle/>
            <a:p>
              <a:pPr>
                <a:defRPr sz="900" b="0">
                  <a:solidFill>
                    <a:srgbClr val="111827"/>
                  </a:solidFill>
                  <a:latin typeface="Arial"/>
                </a:defRPr>
              </a:pPr>
              <a:r>
                <a:rPr sz="1200" dirty="0">
                  <a:latin typeface="Arial"/>
                </a:rPr>
                <a:t>TOP</a:t>
              </a:r>
              <a:r>
                <a:rPr lang="en-US" sz="1200" dirty="0">
                  <a:latin typeface="Arial"/>
                </a:rPr>
                <a:t> </a:t>
              </a:r>
              <a:r>
                <a:rPr sz="1200" dirty="0">
                  <a:latin typeface="Arial"/>
                </a:rPr>
                <a:t>K = 30 candidates</a:t>
              </a:r>
              <a:endParaRPr/>
            </a:p>
          </p:txBody>
        </p:sp>
        <p:sp>
          <p:nvSpPr>
            <p:cNvPr id="219" name="Rectangle 15"/>
            <p:cNvSpPr/>
            <p:nvPr/>
          </p:nvSpPr>
          <p:spPr>
            <a:xfrm>
              <a:off x="822959" y="2807208"/>
              <a:ext cx="10719683" cy="502920"/>
            </a:xfrm>
            <a:prstGeom prst="rect">
              <a:avLst/>
            </a:prstGeom>
            <a:solidFill>
              <a:srgbClr val="E8F2FF"/>
            </a:solidFill>
            <a:ln>
              <a:solidFill>
                <a:srgbClr val="E1E6E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20" name="TextBox 16"/>
            <p:cNvSpPr txBox="1"/>
            <p:nvPr/>
          </p:nvSpPr>
          <p:spPr>
            <a:xfrm>
              <a:off x="960119" y="2880359"/>
              <a:ext cx="1864293" cy="239485"/>
            </a:xfrm>
            <a:prstGeom prst="rect">
              <a:avLst/>
            </a:prstGeom>
            <a:noFill/>
          </p:spPr>
          <p:txBody>
            <a:bodyPr wrap="square">
              <a:noAutofit/>
            </a:bodyPr>
            <a:lstStyle/>
            <a:p>
              <a:pPr>
                <a:defRPr sz="900" b="1">
                  <a:solidFill>
                    <a:srgbClr val="124E78"/>
                  </a:solidFill>
                  <a:latin typeface="Arial"/>
                </a:defRPr>
              </a:pPr>
              <a:r>
                <a:rPr sz="1200" dirty="0" err="1">
                  <a:latin typeface="Arial"/>
                </a:rPr>
                <a:t>Reranker</a:t>
              </a:r>
              <a:endParaRPr sz="1200" dirty="0">
                <a:latin typeface="Arial"/>
              </a:endParaRPr>
            </a:p>
          </p:txBody>
        </p:sp>
        <p:sp>
          <p:nvSpPr>
            <p:cNvPr id="221" name="TextBox 17"/>
            <p:cNvSpPr txBox="1"/>
            <p:nvPr/>
          </p:nvSpPr>
          <p:spPr>
            <a:xfrm>
              <a:off x="2743199" y="2880359"/>
              <a:ext cx="8202888" cy="239485"/>
            </a:xfrm>
            <a:prstGeom prst="rect">
              <a:avLst/>
            </a:prstGeom>
            <a:noFill/>
          </p:spPr>
          <p:txBody>
            <a:bodyPr wrap="square">
              <a:noAutofit/>
            </a:bodyPr>
            <a:lstStyle/>
            <a:p>
              <a:pPr>
                <a:defRPr sz="900" b="0">
                  <a:solidFill>
                    <a:srgbClr val="111827"/>
                  </a:solidFill>
                  <a:latin typeface="Arial"/>
                </a:defRPr>
              </a:pPr>
              <a:r>
                <a:rPr sz="1200" dirty="0">
                  <a:latin typeface="Arial"/>
                </a:rPr>
                <a:t>bge-reranker-v2-m3</a:t>
              </a:r>
              <a:endParaRPr/>
            </a:p>
          </p:txBody>
        </p:sp>
        <p:sp>
          <p:nvSpPr>
            <p:cNvPr id="222" name="Rectangle 18"/>
            <p:cNvSpPr/>
            <p:nvPr/>
          </p:nvSpPr>
          <p:spPr>
            <a:xfrm>
              <a:off x="822959" y="3246120"/>
              <a:ext cx="10719683" cy="502920"/>
            </a:xfrm>
            <a:prstGeom prst="rect">
              <a:avLst/>
            </a:prstGeom>
            <a:solidFill>
              <a:srgbClr val="F5F7FA"/>
            </a:solidFill>
            <a:ln>
              <a:solidFill>
                <a:srgbClr val="E1E6E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23" name="TextBox 19"/>
            <p:cNvSpPr txBox="1"/>
            <p:nvPr/>
          </p:nvSpPr>
          <p:spPr>
            <a:xfrm>
              <a:off x="960119" y="3319271"/>
              <a:ext cx="1864293" cy="239485"/>
            </a:xfrm>
            <a:prstGeom prst="rect">
              <a:avLst/>
            </a:prstGeom>
            <a:noFill/>
          </p:spPr>
          <p:txBody>
            <a:bodyPr wrap="square">
              <a:noAutofit/>
            </a:bodyPr>
            <a:lstStyle/>
            <a:p>
              <a:pPr>
                <a:defRPr sz="900" b="1">
                  <a:solidFill>
                    <a:srgbClr val="124E78"/>
                  </a:solidFill>
                  <a:latin typeface="Arial"/>
                </a:defRPr>
              </a:pPr>
              <a:r>
                <a:rPr sz="1200" dirty="0">
                  <a:latin typeface="Arial"/>
                </a:rPr>
                <a:t>Context</a:t>
              </a:r>
              <a:endParaRPr/>
            </a:p>
          </p:txBody>
        </p:sp>
        <p:sp>
          <p:nvSpPr>
            <p:cNvPr id="224" name="TextBox 20"/>
            <p:cNvSpPr txBox="1"/>
            <p:nvPr/>
          </p:nvSpPr>
          <p:spPr>
            <a:xfrm>
              <a:off x="2743199" y="3319271"/>
              <a:ext cx="8202888" cy="239485"/>
            </a:xfrm>
            <a:prstGeom prst="rect">
              <a:avLst/>
            </a:prstGeom>
            <a:noFill/>
          </p:spPr>
          <p:txBody>
            <a:bodyPr wrap="square">
              <a:noAutofit/>
            </a:bodyPr>
            <a:lstStyle/>
            <a:p>
              <a:pPr>
                <a:defRPr sz="900" b="0">
                  <a:solidFill>
                    <a:srgbClr val="111827"/>
                  </a:solidFill>
                  <a:latin typeface="Arial"/>
                </a:defRPr>
              </a:pPr>
              <a:r>
                <a:rPr sz="1200" dirty="0">
                  <a:latin typeface="Arial"/>
                </a:rPr>
                <a:t>top 5 chunks after reranking</a:t>
              </a:r>
              <a:endParaRPr/>
            </a:p>
          </p:txBody>
        </p:sp>
        <p:sp>
          <p:nvSpPr>
            <p:cNvPr id="225" name="Rectangle 21"/>
            <p:cNvSpPr/>
            <p:nvPr/>
          </p:nvSpPr>
          <p:spPr>
            <a:xfrm>
              <a:off x="822959" y="3685031"/>
              <a:ext cx="10719683" cy="502920"/>
            </a:xfrm>
            <a:prstGeom prst="rect">
              <a:avLst/>
            </a:prstGeom>
            <a:solidFill>
              <a:srgbClr val="E8F2FF"/>
            </a:solidFill>
            <a:ln>
              <a:solidFill>
                <a:srgbClr val="E1E6E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26" name="TextBox 22"/>
            <p:cNvSpPr txBox="1"/>
            <p:nvPr/>
          </p:nvSpPr>
          <p:spPr>
            <a:xfrm>
              <a:off x="960119" y="3758182"/>
              <a:ext cx="1864293" cy="239485"/>
            </a:xfrm>
            <a:prstGeom prst="rect">
              <a:avLst/>
            </a:prstGeom>
            <a:noFill/>
          </p:spPr>
          <p:txBody>
            <a:bodyPr wrap="square">
              <a:noAutofit/>
            </a:bodyPr>
            <a:lstStyle/>
            <a:p>
              <a:pPr>
                <a:defRPr sz="900" b="1">
                  <a:solidFill>
                    <a:srgbClr val="124E78"/>
                  </a:solidFill>
                  <a:latin typeface="Arial"/>
                </a:defRPr>
              </a:pPr>
              <a:r>
                <a:rPr sz="1200" dirty="0">
                  <a:latin typeface="Arial"/>
                </a:rPr>
                <a:t>Interface</a:t>
              </a:r>
              <a:endParaRPr/>
            </a:p>
          </p:txBody>
        </p:sp>
        <p:sp>
          <p:nvSpPr>
            <p:cNvPr id="227" name="TextBox 23"/>
            <p:cNvSpPr txBox="1"/>
            <p:nvPr/>
          </p:nvSpPr>
          <p:spPr>
            <a:xfrm>
              <a:off x="2743199" y="3758182"/>
              <a:ext cx="8202888" cy="239485"/>
            </a:xfrm>
            <a:prstGeom prst="rect">
              <a:avLst/>
            </a:prstGeom>
            <a:noFill/>
          </p:spPr>
          <p:txBody>
            <a:bodyPr wrap="square">
              <a:noAutofit/>
            </a:bodyPr>
            <a:lstStyle/>
            <a:p>
              <a:pPr>
                <a:defRPr sz="900" b="0">
                  <a:solidFill>
                    <a:srgbClr val="111827"/>
                  </a:solidFill>
                  <a:latin typeface="Arial"/>
                </a:defRPr>
              </a:pPr>
              <a:r>
                <a:rPr sz="1200" dirty="0" err="1">
                  <a:latin typeface="Arial"/>
                </a:rPr>
                <a:t>Gradio</a:t>
              </a:r>
              <a:r>
                <a:rPr sz="1200" dirty="0">
                  <a:latin typeface="Arial"/>
                </a:rPr>
                <a:t> web application</a:t>
              </a:r>
              <a:endParaRPr/>
            </a:p>
          </p:txBody>
        </p:sp>
        <p:sp>
          <p:nvSpPr>
            <p:cNvPr id="228" name="Rectangle 24"/>
            <p:cNvSpPr/>
            <p:nvPr/>
          </p:nvSpPr>
          <p:spPr>
            <a:xfrm>
              <a:off x="822959" y="4123944"/>
              <a:ext cx="10719683" cy="502920"/>
            </a:xfrm>
            <a:prstGeom prst="rect">
              <a:avLst/>
            </a:prstGeom>
            <a:solidFill>
              <a:srgbClr val="F5F7FA"/>
            </a:solidFill>
            <a:ln>
              <a:solidFill>
                <a:srgbClr val="E1E6E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29" name="TextBox 25"/>
            <p:cNvSpPr txBox="1"/>
            <p:nvPr/>
          </p:nvSpPr>
          <p:spPr>
            <a:xfrm>
              <a:off x="960119" y="4197095"/>
              <a:ext cx="1864293" cy="239485"/>
            </a:xfrm>
            <a:prstGeom prst="rect">
              <a:avLst/>
            </a:prstGeom>
            <a:noFill/>
          </p:spPr>
          <p:txBody>
            <a:bodyPr wrap="square">
              <a:noAutofit/>
            </a:bodyPr>
            <a:lstStyle/>
            <a:p>
              <a:pPr>
                <a:defRPr sz="900" b="1">
                  <a:solidFill>
                    <a:srgbClr val="124E78"/>
                  </a:solidFill>
                  <a:latin typeface="Arial"/>
                </a:defRPr>
              </a:pPr>
              <a:r>
                <a:rPr sz="1200" dirty="0">
                  <a:latin typeface="Arial"/>
                </a:rPr>
                <a:t>Runtime</a:t>
              </a:r>
              <a:endParaRPr/>
            </a:p>
          </p:txBody>
        </p:sp>
        <p:sp>
          <p:nvSpPr>
            <p:cNvPr id="230" name="TextBox 26"/>
            <p:cNvSpPr txBox="1"/>
            <p:nvPr/>
          </p:nvSpPr>
          <p:spPr>
            <a:xfrm>
              <a:off x="2743199" y="4197095"/>
              <a:ext cx="8202888" cy="239485"/>
            </a:xfrm>
            <a:prstGeom prst="rect">
              <a:avLst/>
            </a:prstGeom>
            <a:noFill/>
          </p:spPr>
          <p:txBody>
            <a:bodyPr wrap="square">
              <a:noAutofit/>
            </a:bodyPr>
            <a:lstStyle/>
            <a:p>
              <a:pPr>
                <a:defRPr sz="900" b="0">
                  <a:solidFill>
                    <a:srgbClr val="111827"/>
                  </a:solidFill>
                  <a:latin typeface="Arial"/>
                </a:defRPr>
              </a:pPr>
              <a:r>
                <a:rPr sz="1200" dirty="0" err="1">
                  <a:latin typeface="Arial"/>
                </a:rPr>
                <a:t>tmux</a:t>
              </a:r>
              <a:r>
                <a:rPr sz="1200" dirty="0">
                  <a:latin typeface="Arial"/>
                </a:rPr>
                <a:t> sessions for long-running server and evaluation jobs</a:t>
              </a:r>
              <a:endParaRPr/>
            </a:p>
          </p:txBody>
        </p:sp>
      </p:grpSp>
      <p:sp>
        <p:nvSpPr>
          <p:cNvPr id="231" name="TextBox 32"/>
          <p:cNvSpPr txBox="1"/>
          <p:nvPr/>
        </p:nvSpPr>
        <p:spPr>
          <a:xfrm>
            <a:off x="11292840" y="6419088"/>
            <a:ext cx="365760" cy="182880"/>
          </a:xfrm>
          <a:prstGeom prst="rect">
            <a:avLst/>
          </a:prstGeom>
          <a:noFill/>
        </p:spPr>
        <p:txBody>
          <a:bodyPr wrap="square">
            <a:normAutofit fontScale="92500"/>
          </a:bodyPr>
          <a:lstStyle/>
          <a:p>
            <a:pPr algn="r">
              <a:defRPr sz="700" b="0">
                <a:solidFill>
                  <a:srgbClr val="5C6673"/>
                </a:solidFill>
                <a:latin typeface="Arial"/>
              </a:defRPr>
            </a:pPr>
            <a:r>
              <a:rPr>
                <a:latin typeface="Arial"/>
              </a:rPr>
              <a:t>7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310896"/>
            <a:ext cx="1088136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400" b="1">
                <a:solidFill>
                  <a:srgbClr val="111827"/>
                </a:solidFill>
                <a:latin typeface="Arial"/>
              </a:defRPr>
            </a:pPr>
            <a:r>
              <a:rPr>
                <a:latin typeface="Arial"/>
              </a:rPr>
              <a:t>Four Compared Systems</a:t>
            </a:r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73152"/>
          </a:xfrm>
          <a:prstGeom prst="rect">
            <a:avLst/>
          </a:prstGeom>
          <a:solidFill>
            <a:srgbClr val="12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85800" y="1051560"/>
            <a:ext cx="4892040" cy="1508760"/>
          </a:xfrm>
          <a:prstGeom prst="roundRect">
            <a:avLst/>
          </a:prstGeom>
          <a:solidFill>
            <a:srgbClr val="E8F2FF"/>
          </a:solidFill>
          <a:ln w="0"/>
          <a:effectLst>
            <a:glow rad="12700">
              <a:srgbClr val="0E0E0E">
                <a:alpha val="100000"/>
              </a:srgbClr>
            </a:glow>
            <a:reflection blurRad="44450" stA="94000" endA="300" endPos="26000" dist="20320" dir="5400000" sy="-100000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85800" y="1051560"/>
            <a:ext cx="4892040" cy="347472"/>
          </a:xfrm>
          <a:prstGeom prst="roundRect">
            <a:avLst/>
          </a:prstGeom>
          <a:solidFill>
            <a:srgbClr val="124E78"/>
          </a:solidFill>
          <a:ln w="0"/>
          <a:effectLst>
            <a:glow rad="12700">
              <a:srgbClr val="0E0E0E">
                <a:alpha val="100000"/>
              </a:srgbClr>
            </a:glow>
            <a:reflection blurRad="44450" stA="94000" endA="300" endPos="26000" dist="20320" dir="5400000" sy="-100000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50392" y="1106424"/>
            <a:ext cx="4572000" cy="228600"/>
          </a:xfrm>
          <a:prstGeom prst="rect">
            <a:avLst/>
          </a:prstGeom>
          <a:noFill/>
          <a:ln w="0"/>
          <a:effectLst>
            <a:glow rad="12700">
              <a:srgbClr val="0E0E0E">
                <a:alpha val="100000"/>
              </a:srgbClr>
            </a:glow>
            <a:reflection blurRad="44450" stA="94000" endA="300" endPos="26000" dist="20320" dir="5400000" sy="-100000" rotWithShape="0"/>
          </a:effectLst>
        </p:spPr>
        <p:txBody>
          <a:bodyPr wrap="square">
            <a:noAutofit/>
          </a:bodyPr>
          <a:lstStyle/>
          <a:p>
            <a:pPr>
              <a:defRPr sz="1400" b="1">
                <a:solidFill>
                  <a:srgbClr val="FFFFFF">
                    <a:alpha val="100000"/>
                  </a:srgbClr>
                </a:solidFill>
                <a:latin typeface="Arial"/>
                <a:ea typeface="宋体"/>
                <a:cs typeface="+mn-cs"/>
              </a:defRPr>
            </a:pPr>
            <a:r>
              <a:rPr>
                <a:latin typeface="Arial"/>
                <a:ea typeface="宋体"/>
                <a:cs typeface="+mn-cs"/>
              </a:rPr>
              <a:t>Direct</a:t>
            </a:r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46403" y="1773980"/>
            <a:ext cx="4782313" cy="994849"/>
          </a:xfrm>
          <a:prstGeom prst="rect">
            <a:avLst/>
          </a:prstGeom>
          <a:noFill/>
          <a:ln w="0"/>
          <a:effectLst>
            <a:glow rad="12700">
              <a:srgbClr val="0E0E0E">
                <a:alpha val="100000"/>
              </a:srgbClr>
            </a:glow>
            <a:reflection blurRad="44450" stA="94000" endA="300" endPos="26000" dist="20320" dir="5400000" sy="-100000" rotWithShape="0"/>
          </a:effectLst>
        </p:spPr>
        <p:txBody>
          <a:bodyPr wrap="square">
            <a:normAutofit/>
          </a:bodyPr>
          <a:lstStyle/>
          <a:p>
            <a:pPr>
              <a:defRPr sz="1300" b="0">
                <a:solidFill>
                  <a:srgbClr val="111827">
                    <a:alpha val="100000"/>
                  </a:srgbClr>
                </a:solidFill>
                <a:latin typeface="Arial"/>
                <a:ea typeface="宋体"/>
                <a:cs typeface="+mn-cs"/>
              </a:defRPr>
            </a:pPr>
            <a:r>
              <a:rPr sz="1400">
                <a:latin typeface="Arial"/>
                <a:ea typeface="宋体"/>
                <a:cs typeface="+mn-cs"/>
              </a:rPr>
              <a:t> Qwen3-32B answers without retrieval
 </a:t>
            </a:r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675120" y="3337560"/>
            <a:ext cx="4892040" cy="1508760"/>
          </a:xfrm>
          <a:prstGeom prst="roundRect">
            <a:avLst/>
          </a:prstGeom>
          <a:solidFill>
            <a:srgbClr val="E8F8EE"/>
          </a:solidFill>
          <a:ln w="0"/>
          <a:effectLst>
            <a:glow rad="12700">
              <a:srgbClr val="0E0E0E">
                <a:alpha val="100000"/>
              </a:srgbClr>
            </a:glow>
            <a:reflection blurRad="44450" stA="94000" endA="300" endPos="26000" dist="20320" dir="5400000" sy="-100000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675120" y="3337560"/>
            <a:ext cx="4892040" cy="347472"/>
          </a:xfrm>
          <a:prstGeom prst="roundRect">
            <a:avLst/>
          </a:prstGeom>
          <a:solidFill>
            <a:srgbClr val="2E7D32"/>
          </a:solidFill>
          <a:ln w="0"/>
          <a:effectLst>
            <a:glow rad="12700">
              <a:srgbClr val="0E0E0E">
                <a:alpha val="100000"/>
              </a:srgbClr>
            </a:glow>
            <a:reflection blurRad="44450" stA="94000" endA="300" endPos="26000" dist="20320" dir="5400000" sy="-100000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39712" y="3392424"/>
            <a:ext cx="4572000" cy="228600"/>
          </a:xfrm>
          <a:prstGeom prst="rect">
            <a:avLst/>
          </a:prstGeom>
          <a:noFill/>
          <a:ln w="0"/>
          <a:effectLst>
            <a:glow rad="12700">
              <a:srgbClr val="0E0E0E">
                <a:alpha val="100000"/>
              </a:srgbClr>
            </a:glow>
            <a:reflection blurRad="44450" stA="94000" endA="300" endPos="26000" dist="20320" dir="5400000" sy="-100000" rotWithShape="0"/>
          </a:effectLst>
        </p:spPr>
        <p:txBody>
          <a:bodyPr wrap="square">
            <a:noAutofit/>
          </a:bodyPr>
          <a:lstStyle/>
          <a:p>
            <a:pPr>
              <a:defRPr sz="1400" b="1">
                <a:solidFill>
                  <a:srgbClr val="FFFFFF"/>
                </a:solidFill>
                <a:latin typeface="Arial"/>
              </a:defRPr>
            </a:pPr>
            <a:r>
              <a:rPr sz="1200" dirty="0">
                <a:latin typeface="Arial"/>
              </a:rPr>
              <a:t>Query rewriting</a:t>
            </a:r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931153" y="3948451"/>
            <a:ext cx="4480559" cy="914399"/>
          </a:xfrm>
          <a:prstGeom prst="rect">
            <a:avLst/>
          </a:prstGeom>
          <a:noFill/>
          <a:ln w="0"/>
          <a:effectLst>
            <a:glow rad="12700">
              <a:srgbClr val="0E0E0E">
                <a:alpha val="100000"/>
              </a:srgbClr>
            </a:glow>
            <a:reflection blurRad="44450" stA="94000" endA="300" endPos="26000" dist="20320" dir="5400000" sy="-100000" rotWithShape="0"/>
          </a:effectLst>
        </p:spPr>
        <p:txBody>
          <a:bodyPr wrap="square">
            <a:normAutofit/>
          </a:bodyPr>
          <a:lstStyle/>
          <a:p>
            <a:pPr>
              <a:defRPr sz="1300" b="0">
                <a:solidFill>
                  <a:srgbClr val="111827">
                    <a:alpha val="100000"/>
                  </a:srgbClr>
                </a:solidFill>
                <a:latin typeface="Arial"/>
                <a:ea typeface="宋体"/>
                <a:cs typeface="+mn-cs"/>
              </a:defRPr>
            </a:pPr>
            <a:r>
              <a:rPr sz="1400">
                <a:latin typeface="Arial"/>
                <a:ea typeface="宋体"/>
                <a:cs typeface="+mn-cs"/>
              </a:rPr>
              <a:t>use LLM to rewrite the query for retrieval
</a:t>
            </a:r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85800" y="3337560"/>
            <a:ext cx="4892040" cy="1508760"/>
          </a:xfrm>
          <a:prstGeom prst="roundRect">
            <a:avLst/>
          </a:prstGeom>
          <a:solidFill>
            <a:srgbClr val="FFF4E6"/>
          </a:solidFill>
          <a:ln w="0"/>
          <a:effectLst>
            <a:glow rad="12700">
              <a:srgbClr val="0E0E0E">
                <a:alpha val="100000"/>
              </a:srgbClr>
            </a:glow>
            <a:reflection blurRad="44450" stA="94000" endA="300" endPos="26000" dist="20320" dir="5400000" sy="-100000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85800" y="3337560"/>
            <a:ext cx="4892040" cy="347472"/>
          </a:xfrm>
          <a:prstGeom prst="roundRect">
            <a:avLst/>
          </a:prstGeom>
          <a:solidFill>
            <a:srgbClr val="D97706"/>
          </a:solidFill>
          <a:ln w="0"/>
          <a:effectLst>
            <a:glow rad="12700">
              <a:srgbClr val="0E0E0E">
                <a:alpha val="100000"/>
              </a:srgbClr>
            </a:glow>
            <a:reflection blurRad="44450" stA="94000" endA="300" endPos="26000" dist="20320" dir="5400000" sy="-100000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50392" y="3392424"/>
            <a:ext cx="4572000" cy="228600"/>
          </a:xfrm>
          <a:prstGeom prst="rect">
            <a:avLst/>
          </a:prstGeom>
          <a:noFill/>
          <a:ln w="0"/>
          <a:effectLst>
            <a:glow rad="12700">
              <a:srgbClr val="0E0E0E">
                <a:alpha val="100000"/>
              </a:srgbClr>
            </a:glow>
            <a:reflection blurRad="44450" stA="94000" endA="300" endPos="26000" dist="20320" dir="5400000" sy="-100000" rotWithShape="0"/>
          </a:effectLst>
        </p:spPr>
        <p:txBody>
          <a:bodyPr wrap="square">
            <a:noAutofit/>
          </a:bodyPr>
          <a:lstStyle/>
          <a:p>
            <a:pPr>
              <a:defRPr sz="1400" b="1">
                <a:solidFill>
                  <a:srgbClr val="FFFFFF"/>
                </a:solidFill>
                <a:latin typeface="Arial"/>
              </a:defRPr>
            </a:pPr>
            <a:r>
              <a:rPr sz="1200" dirty="0">
                <a:latin typeface="Arial"/>
              </a:rPr>
              <a:t>Reranking</a:t>
            </a:r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86968" y="3840480"/>
            <a:ext cx="4480559" cy="914399"/>
          </a:xfrm>
          <a:prstGeom prst="rect">
            <a:avLst/>
          </a:prstGeom>
          <a:noFill/>
          <a:ln w="0"/>
          <a:effectLst>
            <a:glow rad="12700">
              <a:srgbClr val="0E0E0E">
                <a:alpha val="100000"/>
              </a:srgbClr>
            </a:glow>
            <a:reflection blurRad="44450" stA="94000" endA="300" endPos="26000" dist="20320" dir="5400000" sy="-100000" rotWithShape="0"/>
          </a:effectLst>
        </p:spPr>
        <p:txBody>
          <a:bodyPr wrap="square">
            <a:normAutofit/>
          </a:bodyPr>
          <a:lstStyle/>
          <a:p>
            <a:pPr>
              <a:defRPr sz="1300" b="0">
                <a:solidFill>
                  <a:srgbClr val="111827">
                    <a:alpha val="100000"/>
                  </a:srgbClr>
                </a:solidFill>
                <a:latin typeface="Arial"/>
                <a:ea typeface="宋体"/>
                <a:cs typeface="+mn-cs"/>
              </a:defRPr>
            </a:pPr>
            <a:r>
              <a:rPr sz="1400">
                <a:latin typeface="Arial"/>
                <a:ea typeface="宋体"/>
                <a:cs typeface="+mn-cs"/>
              </a:rPr>
              <a:t> retrieve top 30 candidates
 BGE reranker selects top 5 chunks for the prompt</a:t>
            </a:r>
            <a:endParaRPr/>
          </a:p>
        </p:txBody>
      </p:sp>
      <p:sp>
        <p:nvSpPr>
          <p:cNvPr id="16" name="Rounded Rectangle 11"/>
          <p:cNvSpPr/>
          <p:nvPr/>
        </p:nvSpPr>
        <p:spPr>
          <a:xfrm>
            <a:off x="6675120" y="1074155"/>
            <a:ext cx="4892040" cy="1486165"/>
          </a:xfrm>
          <a:prstGeom prst="roundRect">
            <a:avLst/>
          </a:prstGeom>
          <a:solidFill>
            <a:srgbClr val="F2EBFF"/>
          </a:solidFill>
          <a:ln w="0"/>
          <a:effectLst>
            <a:glow rad="12700">
              <a:srgbClr val="0E0E0E">
                <a:alpha val="100000"/>
              </a:srgbClr>
            </a:glow>
            <a:reflection blurRad="44450" stA="94000" endA="300" endPos="26000" dist="20320" dir="5400000" sy="-100000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2"/>
          <p:cNvSpPr/>
          <p:nvPr/>
        </p:nvSpPr>
        <p:spPr>
          <a:xfrm>
            <a:off x="6675120" y="1051560"/>
            <a:ext cx="4892040" cy="347472"/>
          </a:xfrm>
          <a:prstGeom prst="roundRect">
            <a:avLst/>
          </a:prstGeom>
          <a:solidFill>
            <a:srgbClr val="7A5195"/>
          </a:solidFill>
          <a:ln w="0"/>
          <a:effectLst>
            <a:glow rad="12700">
              <a:srgbClr val="0E0E0E">
                <a:alpha val="100000"/>
              </a:srgbClr>
            </a:glow>
            <a:reflection blurRad="44450" stA="94000" endA="300" endPos="26000" dist="20320" dir="5400000" sy="-100000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3"/>
          <p:cNvSpPr txBox="1"/>
          <p:nvPr/>
        </p:nvSpPr>
        <p:spPr>
          <a:xfrm>
            <a:off x="6839712" y="1106424"/>
            <a:ext cx="3154679" cy="228600"/>
          </a:xfrm>
          <a:prstGeom prst="rect">
            <a:avLst/>
          </a:prstGeom>
          <a:noFill/>
          <a:ln w="0"/>
          <a:effectLst>
            <a:glow rad="12700">
              <a:srgbClr val="0E0E0E">
                <a:alpha val="100000"/>
              </a:srgbClr>
            </a:glow>
            <a:reflection blurRad="44450" stA="94000" endA="300" endPos="26000" dist="20320" dir="5400000" sy="-100000" rotWithShape="0"/>
          </a:effectLst>
        </p:spPr>
        <p:txBody>
          <a:bodyPr wrap="square">
            <a:noAutofit/>
          </a:bodyPr>
          <a:lstStyle/>
          <a:p>
            <a:pPr>
              <a:defRPr sz="1300" b="1">
                <a:solidFill>
                  <a:srgbClr val="FFFFFF">
                    <a:alpha val="100000"/>
                  </a:srgbClr>
                </a:solidFill>
                <a:latin typeface="Arial"/>
                <a:ea typeface="宋体"/>
                <a:cs typeface="+mn-cs"/>
              </a:defRPr>
            </a:pPr>
            <a:r>
              <a:rPr>
                <a:latin typeface="Arial"/>
                <a:ea typeface="宋体"/>
                <a:cs typeface="+mn-cs"/>
              </a:rPr>
              <a:t>Basic RAG</a:t>
            </a:r>
            <a:endParaRPr/>
          </a:p>
        </p:txBody>
      </p:sp>
      <p:sp>
        <p:nvSpPr>
          <p:cNvPr id="19" name="TextBox 14"/>
          <p:cNvSpPr txBox="1"/>
          <p:nvPr/>
        </p:nvSpPr>
        <p:spPr>
          <a:xfrm>
            <a:off x="6876288" y="1750198"/>
            <a:ext cx="2770632" cy="521207"/>
          </a:xfrm>
          <a:prstGeom prst="rect">
            <a:avLst/>
          </a:prstGeom>
          <a:noFill/>
          <a:ln w="0"/>
          <a:effectLst>
            <a:glow rad="12700">
              <a:srgbClr val="0E0E0E">
                <a:alpha val="100000"/>
              </a:srgbClr>
            </a:glow>
            <a:reflection blurRad="44450" stA="94000" endA="300" endPos="26000" dist="20320" dir="5400000" sy="-100000" rotWithShape="0"/>
          </a:effectLst>
        </p:spPr>
        <p:txBody>
          <a:bodyPr wrap="square">
            <a:normAutofit/>
          </a:bodyPr>
          <a:lstStyle/>
          <a:p>
            <a:pPr>
              <a:defRPr sz="1300" b="0">
                <a:solidFill>
                  <a:srgbClr val="111827">
                    <a:alpha val="100000"/>
                  </a:srgbClr>
                </a:solidFill>
                <a:latin typeface="Arial"/>
                <a:ea typeface="宋体"/>
                <a:cs typeface="+mn-cs"/>
              </a:defRPr>
            </a:pPr>
            <a:r>
              <a:rPr sz="1400">
                <a:latin typeface="Arial"/>
                <a:ea typeface="宋体"/>
                <a:cs typeface="+mn-cs"/>
              </a:rPr>
              <a:t>FAISS retrieval plus generation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1"/>
          <p:cNvSpPr txBox="1"/>
          <p:nvPr/>
        </p:nvSpPr>
        <p:spPr>
          <a:xfrm>
            <a:off x="594360" y="320040"/>
            <a:ext cx="1088136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400" b="1">
                <a:solidFill>
                  <a:srgbClr val="111827"/>
                </a:solidFill>
                <a:latin typeface="Arial"/>
              </a:defRPr>
            </a:pPr>
            <a:r>
              <a:rPr>
                <a:latin typeface="Arial"/>
              </a:rPr>
              <a:t>Evaluation Metrics</a:t>
            </a:r>
            <a:endParaRPr/>
          </a:p>
        </p:txBody>
      </p:sp>
      <p:sp>
        <p:nvSpPr>
          <p:cNvPr id="22" name="Rectangle 2"/>
          <p:cNvSpPr/>
          <p:nvPr/>
        </p:nvSpPr>
        <p:spPr>
          <a:xfrm>
            <a:off x="0" y="0"/>
            <a:ext cx="12191999" cy="73152"/>
          </a:xfrm>
          <a:prstGeom prst="rect">
            <a:avLst/>
          </a:prstGeom>
          <a:solidFill>
            <a:srgbClr val="12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3"/>
          <p:cNvSpPr/>
          <p:nvPr/>
        </p:nvSpPr>
        <p:spPr>
          <a:xfrm>
            <a:off x="460249" y="1324006"/>
            <a:ext cx="3474720" cy="2003066"/>
          </a:xfrm>
          <a:prstGeom prst="roundRect">
            <a:avLst/>
          </a:prstGeom>
          <a:solidFill>
            <a:srgbClr val="E8F2FF"/>
          </a:solidFill>
          <a:ln>
            <a:solidFill>
              <a:srgbClr val="D2D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4"/>
          <p:cNvSpPr/>
          <p:nvPr/>
        </p:nvSpPr>
        <p:spPr>
          <a:xfrm>
            <a:off x="460249" y="1324006"/>
            <a:ext cx="3474720" cy="347472"/>
          </a:xfrm>
          <a:prstGeom prst="roundRect">
            <a:avLst/>
          </a:prstGeom>
          <a:solidFill>
            <a:srgbClr val="12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5"/>
          <p:cNvSpPr txBox="1"/>
          <p:nvPr/>
        </p:nvSpPr>
        <p:spPr>
          <a:xfrm>
            <a:off x="624841" y="1378870"/>
            <a:ext cx="3154679" cy="228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300" b="1">
                <a:solidFill>
                  <a:srgbClr val="FFFFFF">
                    <a:alpha val="100000"/>
                  </a:srgbClr>
                </a:solidFill>
                <a:latin typeface="Arial"/>
                <a:ea typeface="宋体"/>
                <a:cs typeface="+mn-cs"/>
              </a:defRPr>
            </a:pPr>
            <a:r>
              <a:rPr sz="1600">
                <a:latin typeface="Arial"/>
                <a:ea typeface="宋体"/>
                <a:cs typeface="+mn-cs"/>
              </a:rPr>
              <a:t>Retrieval</a:t>
            </a:r>
            <a:endParaRPr/>
          </a:p>
        </p:txBody>
      </p:sp>
      <p:sp>
        <p:nvSpPr>
          <p:cNvPr id="26" name="TextBox 6"/>
          <p:cNvSpPr txBox="1"/>
          <p:nvPr/>
        </p:nvSpPr>
        <p:spPr>
          <a:xfrm>
            <a:off x="661417" y="1826926"/>
            <a:ext cx="2928333" cy="123510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300" b="0">
                <a:solidFill>
                  <a:srgbClr val="111827">
                    <a:alpha val="100000"/>
                  </a:srgbClr>
                </a:solidFill>
                <a:latin typeface="Arial"/>
                <a:ea typeface="宋体"/>
                <a:cs typeface="+mn-cs"/>
              </a:defRPr>
            </a:pPr>
            <a:r>
              <a:rPr sz="1600">
                <a:latin typeface="Arial"/>
                <a:ea typeface="宋体"/>
                <a:cs typeface="+mn-cs"/>
              </a:rPr>
              <a:t>Recall@K
Precision@K
MRR@K
nDCG@K
evidence rank</a:t>
            </a:r>
            <a:endParaRPr/>
          </a:p>
        </p:txBody>
      </p:sp>
      <p:sp>
        <p:nvSpPr>
          <p:cNvPr id="27" name="Rounded Rectangle 7"/>
          <p:cNvSpPr/>
          <p:nvPr/>
        </p:nvSpPr>
        <p:spPr>
          <a:xfrm>
            <a:off x="4363211" y="1324006"/>
            <a:ext cx="3319271" cy="2003066"/>
          </a:xfrm>
          <a:prstGeom prst="roundRect">
            <a:avLst/>
          </a:prstGeom>
          <a:solidFill>
            <a:srgbClr val="E8F8EE"/>
          </a:solidFill>
          <a:ln>
            <a:solidFill>
              <a:srgbClr val="D2D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8"/>
          <p:cNvSpPr/>
          <p:nvPr/>
        </p:nvSpPr>
        <p:spPr>
          <a:xfrm>
            <a:off x="4363211" y="1324006"/>
            <a:ext cx="3474720" cy="347472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9"/>
          <p:cNvSpPr txBox="1"/>
          <p:nvPr/>
        </p:nvSpPr>
        <p:spPr>
          <a:xfrm>
            <a:off x="4527803" y="1378870"/>
            <a:ext cx="3154679" cy="228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300" b="1">
                <a:solidFill>
                  <a:srgbClr val="FFFFFF">
                    <a:alpha val="100000"/>
                  </a:srgbClr>
                </a:solidFill>
                <a:latin typeface="Arial"/>
                <a:ea typeface="宋体"/>
                <a:cs typeface="+mn-cs"/>
              </a:defRPr>
            </a:pPr>
            <a:r>
              <a:rPr sz="1600">
                <a:latin typeface="Arial"/>
                <a:ea typeface="宋体"/>
                <a:cs typeface="+mn-cs"/>
              </a:rPr>
              <a:t>Generation</a:t>
            </a:r>
            <a:endParaRPr/>
          </a:p>
        </p:txBody>
      </p:sp>
      <p:sp>
        <p:nvSpPr>
          <p:cNvPr id="30" name="TextBox 10"/>
          <p:cNvSpPr txBox="1"/>
          <p:nvPr/>
        </p:nvSpPr>
        <p:spPr>
          <a:xfrm>
            <a:off x="4564380" y="1826926"/>
            <a:ext cx="2757380" cy="123510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300" b="0">
                <a:solidFill>
                  <a:srgbClr val="111827">
                    <a:alpha val="100000"/>
                  </a:srgbClr>
                </a:solidFill>
                <a:latin typeface="Arial"/>
                <a:ea typeface="宋体"/>
                <a:cs typeface="+mn-cs"/>
              </a:defRPr>
            </a:pPr>
            <a:r>
              <a:rPr sz="1600">
                <a:latin typeface="Arial"/>
                <a:ea typeface="宋体"/>
                <a:cs typeface="+mn-cs"/>
              </a:rPr>
              <a:t>answer correctness
relevance
completeness
faithfulness
groundedness</a:t>
            </a:r>
            <a:endParaRPr/>
          </a:p>
        </p:txBody>
      </p:sp>
      <p:sp>
        <p:nvSpPr>
          <p:cNvPr id="31" name="Rounded Rectangle 11"/>
          <p:cNvSpPr/>
          <p:nvPr/>
        </p:nvSpPr>
        <p:spPr>
          <a:xfrm>
            <a:off x="8110724" y="1324006"/>
            <a:ext cx="3474720" cy="2003066"/>
          </a:xfrm>
          <a:prstGeom prst="roundRect">
            <a:avLst/>
          </a:prstGeom>
          <a:solidFill>
            <a:srgbClr val="F2EBFF"/>
          </a:solidFill>
          <a:ln>
            <a:solidFill>
              <a:srgbClr val="D2D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12"/>
          <p:cNvSpPr/>
          <p:nvPr/>
        </p:nvSpPr>
        <p:spPr>
          <a:xfrm>
            <a:off x="8110724" y="1324006"/>
            <a:ext cx="3474720" cy="347472"/>
          </a:xfrm>
          <a:prstGeom prst="roundRect">
            <a:avLst/>
          </a:prstGeom>
          <a:solidFill>
            <a:srgbClr val="7A51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13"/>
          <p:cNvSpPr txBox="1"/>
          <p:nvPr/>
        </p:nvSpPr>
        <p:spPr>
          <a:xfrm>
            <a:off x="8275315" y="1378870"/>
            <a:ext cx="3154679" cy="228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300" b="1">
                <a:solidFill>
                  <a:srgbClr val="FFFFFF">
                    <a:alpha val="100000"/>
                  </a:srgbClr>
                </a:solidFill>
                <a:latin typeface="Arial"/>
                <a:ea typeface="宋体"/>
                <a:cs typeface="+mn-cs"/>
              </a:defRPr>
            </a:pPr>
            <a:r>
              <a:rPr sz="1600">
                <a:latin typeface="Arial"/>
                <a:ea typeface="宋体"/>
                <a:cs typeface="+mn-cs"/>
              </a:rPr>
              <a:t>Trust and system</a:t>
            </a:r>
            <a:endParaRPr/>
          </a:p>
        </p:txBody>
      </p:sp>
      <p:sp>
        <p:nvSpPr>
          <p:cNvPr id="34" name="TextBox 14"/>
          <p:cNvSpPr txBox="1"/>
          <p:nvPr/>
        </p:nvSpPr>
        <p:spPr>
          <a:xfrm>
            <a:off x="8311893" y="1826926"/>
            <a:ext cx="2770632" cy="1235103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300" b="0">
                <a:solidFill>
                  <a:srgbClr val="111827">
                    <a:alpha val="100000"/>
                  </a:srgbClr>
                </a:solidFill>
                <a:latin typeface="Arial"/>
                <a:ea typeface="宋体"/>
                <a:cs typeface="+mn-cs"/>
              </a:defRPr>
            </a:pPr>
            <a:r>
              <a:rPr sz="1600">
                <a:latin typeface="Arial"/>
                <a:ea typeface="宋体"/>
                <a:cs typeface="+mn-cs"/>
              </a:rPr>
              <a:t>citation accuracy
hallucination rate
latency</a:t>
            </a:r>
            <a:endParaRPr/>
          </a:p>
        </p:txBody>
      </p:sp>
      <p:sp>
        <p:nvSpPr>
          <p:cNvPr id="35" name="Rounded Rectangle 15"/>
          <p:cNvSpPr/>
          <p:nvPr/>
        </p:nvSpPr>
        <p:spPr>
          <a:xfrm>
            <a:off x="1112519" y="4322220"/>
            <a:ext cx="9966960" cy="772670"/>
          </a:xfrm>
          <a:prstGeom prst="roundRect">
            <a:avLst/>
          </a:prstGeom>
          <a:solidFill>
            <a:srgbClr val="F4DD6C">
              <a:alpha val="37000"/>
            </a:srgbClr>
          </a:solidFill>
          <a:ln>
            <a:solidFill>
              <a:srgbClr val="D2D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16"/>
          <p:cNvSpPr/>
          <p:nvPr/>
        </p:nvSpPr>
        <p:spPr>
          <a:xfrm>
            <a:off x="1112519" y="4335937"/>
            <a:ext cx="9966960" cy="347472"/>
          </a:xfrm>
          <a:prstGeom prst="roundRect">
            <a:avLst/>
          </a:prstGeom>
          <a:solidFill>
            <a:srgbClr val="F7B642">
              <a:alpha val="81000"/>
            </a:srgbClr>
          </a:solidFill>
          <a:ln>
            <a:noFill/>
          </a:ln>
          <a:effectLst>
            <a:glow>
              <a:srgbClr val="EA8F0D">
                <a:alpha val="41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17"/>
          <p:cNvSpPr txBox="1"/>
          <p:nvPr/>
        </p:nvSpPr>
        <p:spPr>
          <a:xfrm>
            <a:off x="1277111" y="4390800"/>
            <a:ext cx="9646920" cy="228600"/>
          </a:xfrm>
          <a:prstGeom prst="rect">
            <a:avLst/>
          </a:prstGeom>
          <a:noFill/>
          <a:effectLst>
            <a:glow>
              <a:schemeClr val="accent6">
                <a:alpha val="100000"/>
              </a:schemeClr>
            </a:glow>
          </a:effectLst>
        </p:spPr>
        <p:txBody>
          <a:bodyPr wrap="square">
            <a:noAutofit/>
          </a:bodyPr>
          <a:lstStyle/>
          <a:p>
            <a:pPr>
              <a:defRPr sz="1200" b="1">
                <a:solidFill>
                  <a:srgbClr val="FFFFFF">
                    <a:alpha val="100000"/>
                  </a:srgbClr>
                </a:solidFill>
                <a:latin typeface="Arial"/>
                <a:ea typeface="宋体"/>
                <a:cs typeface="+mn-cs"/>
              </a:defRPr>
            </a:pPr>
            <a:r>
              <a:rPr sz="1600">
                <a:latin typeface="Arial"/>
                <a:ea typeface="宋体"/>
                <a:cs typeface="+mn-cs"/>
              </a:rPr>
              <a:t>Scoring</a:t>
            </a:r>
            <a:endParaRPr/>
          </a:p>
        </p:txBody>
      </p:sp>
      <p:sp>
        <p:nvSpPr>
          <p:cNvPr id="38" name="TextBox 18"/>
          <p:cNvSpPr txBox="1"/>
          <p:nvPr/>
        </p:nvSpPr>
        <p:spPr>
          <a:xfrm>
            <a:off x="1272539" y="4747417"/>
            <a:ext cx="9555480" cy="411481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200" b="0">
                <a:solidFill>
                  <a:srgbClr val="111827">
                    <a:alpha val="100000"/>
                  </a:srgbClr>
                </a:solidFill>
                <a:latin typeface="Arial"/>
                <a:ea typeface="宋体"/>
                <a:cs typeface="+mn-cs"/>
              </a:defRPr>
            </a:pPr>
            <a:r>
              <a:rPr sz="1600">
                <a:latin typeface="Arial"/>
                <a:ea typeface="宋体"/>
                <a:cs typeface="+mn-cs"/>
              </a:rPr>
              <a:t>An LLM-as-a-judge evaluator scores answer quality from 0 to 3. Scores &gt;= 2 are counted as acceptable.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extBox 1"/>
          <p:cNvSpPr txBox="1"/>
          <p:nvPr/>
        </p:nvSpPr>
        <p:spPr>
          <a:xfrm>
            <a:off x="594360" y="320040"/>
            <a:ext cx="1088136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400" b="1">
                <a:solidFill>
                  <a:srgbClr val="111827"/>
                </a:solidFill>
                <a:latin typeface="Arial"/>
              </a:defRPr>
            </a:pPr>
            <a:r>
              <a:rPr>
                <a:latin typeface="Arial"/>
              </a:rPr>
              <a:t>Answer Quality: RAG Improves Correctness and Removes Hallucination</a:t>
            </a:r>
            <a:endParaRPr/>
          </a:p>
        </p:txBody>
      </p:sp>
      <p:sp>
        <p:nvSpPr>
          <p:cNvPr id="41" name="Rectangle 2"/>
          <p:cNvSpPr/>
          <p:nvPr/>
        </p:nvSpPr>
        <p:spPr>
          <a:xfrm>
            <a:off x="0" y="0"/>
            <a:ext cx="12191999" cy="73152"/>
          </a:xfrm>
          <a:prstGeom prst="rect">
            <a:avLst/>
          </a:prstGeom>
          <a:solidFill>
            <a:srgbClr val="12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ounded Rectangle 4"/>
          <p:cNvSpPr/>
          <p:nvPr/>
        </p:nvSpPr>
        <p:spPr>
          <a:xfrm>
            <a:off x="8229600" y="1005840"/>
            <a:ext cx="2971800" cy="960120"/>
          </a:xfrm>
          <a:prstGeom prst="roundRect">
            <a:avLst/>
          </a:prstGeom>
          <a:solidFill>
            <a:srgbClr val="E8F2FF"/>
          </a:solidFill>
          <a:ln>
            <a:solidFill>
              <a:srgbClr val="D2D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ounded Rectangle 5"/>
          <p:cNvSpPr/>
          <p:nvPr/>
        </p:nvSpPr>
        <p:spPr>
          <a:xfrm>
            <a:off x="8229600" y="1005840"/>
            <a:ext cx="2971800" cy="347472"/>
          </a:xfrm>
          <a:prstGeom prst="roundRect">
            <a:avLst/>
          </a:prstGeom>
          <a:solidFill>
            <a:srgbClr val="12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6"/>
          <p:cNvSpPr txBox="1"/>
          <p:nvPr/>
        </p:nvSpPr>
        <p:spPr>
          <a:xfrm>
            <a:off x="8394192" y="1060704"/>
            <a:ext cx="2651760" cy="228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200" b="1">
                <a:solidFill>
                  <a:srgbClr val="FFFFFF"/>
                </a:solidFill>
                <a:latin typeface="Arial"/>
              </a:defRPr>
            </a:pPr>
            <a:r>
              <a:rPr sz="1200" dirty="0">
                <a:latin typeface="Arial"/>
              </a:rPr>
              <a:t>Correctness pass</a:t>
            </a:r>
            <a:endParaRPr/>
          </a:p>
        </p:txBody>
      </p:sp>
      <p:sp>
        <p:nvSpPr>
          <p:cNvPr id="45" name="TextBox 7"/>
          <p:cNvSpPr txBox="1"/>
          <p:nvPr/>
        </p:nvSpPr>
        <p:spPr>
          <a:xfrm>
            <a:off x="8439912" y="1444752"/>
            <a:ext cx="256032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300" b="0">
                <a:solidFill>
                  <a:srgbClr val="111827"/>
                </a:solidFill>
                <a:latin typeface="Arial"/>
              </a:defRPr>
            </a:pPr>
            <a:r>
              <a:rPr sz="1200" dirty="0">
                <a:latin typeface="Arial"/>
              </a:rPr>
              <a:t>Direct: 36.67%</a:t>
            </a:r>
            <a:br>
              <a:rPr sz="1200" dirty="0"/>
            </a:br>
            <a:r>
              <a:rPr sz="1200" dirty="0">
                <a:latin typeface="Arial"/>
              </a:rPr>
              <a:t>Best RAG: 86.67%</a:t>
            </a:r>
            <a:endParaRPr/>
          </a:p>
        </p:txBody>
      </p:sp>
      <p:sp>
        <p:nvSpPr>
          <p:cNvPr id="46" name="Rounded Rectangle 8"/>
          <p:cNvSpPr/>
          <p:nvPr/>
        </p:nvSpPr>
        <p:spPr>
          <a:xfrm>
            <a:off x="8229600" y="2331720"/>
            <a:ext cx="2971800" cy="960120"/>
          </a:xfrm>
          <a:prstGeom prst="roundRect">
            <a:avLst/>
          </a:prstGeom>
          <a:solidFill>
            <a:srgbClr val="E8F8EE"/>
          </a:solidFill>
          <a:ln>
            <a:solidFill>
              <a:srgbClr val="D2D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ounded Rectangle 9"/>
          <p:cNvSpPr/>
          <p:nvPr/>
        </p:nvSpPr>
        <p:spPr>
          <a:xfrm>
            <a:off x="8229600" y="2331720"/>
            <a:ext cx="2971800" cy="347472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10"/>
          <p:cNvSpPr txBox="1"/>
          <p:nvPr/>
        </p:nvSpPr>
        <p:spPr>
          <a:xfrm>
            <a:off x="8394192" y="2386584"/>
            <a:ext cx="2651760" cy="228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200" b="1">
                <a:solidFill>
                  <a:srgbClr val="FFFFFF"/>
                </a:solidFill>
                <a:latin typeface="Arial"/>
              </a:defRPr>
            </a:pPr>
            <a:r>
              <a:rPr sz="1200" dirty="0">
                <a:latin typeface="Arial"/>
              </a:rPr>
              <a:t>Hallucination rate</a:t>
            </a:r>
            <a:endParaRPr/>
          </a:p>
        </p:txBody>
      </p:sp>
      <p:sp>
        <p:nvSpPr>
          <p:cNvPr id="49" name="TextBox 11"/>
          <p:cNvSpPr txBox="1"/>
          <p:nvPr/>
        </p:nvSpPr>
        <p:spPr>
          <a:xfrm>
            <a:off x="8439912" y="2770632"/>
            <a:ext cx="256032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300" b="0">
                <a:solidFill>
                  <a:srgbClr val="111827"/>
                </a:solidFill>
                <a:latin typeface="Arial"/>
              </a:defRPr>
            </a:pPr>
            <a:r>
              <a:rPr sz="1200" dirty="0">
                <a:latin typeface="Arial"/>
              </a:rPr>
              <a:t>Direct: 66.67%</a:t>
            </a:r>
            <a:br>
              <a:rPr sz="1200" dirty="0"/>
            </a:br>
            <a:r>
              <a:rPr sz="1200" dirty="0">
                <a:latin typeface="Arial"/>
              </a:rPr>
              <a:t>RAG systems: 0.00%</a:t>
            </a:r>
            <a:endParaRPr/>
          </a:p>
        </p:txBody>
      </p:sp>
      <p:sp>
        <p:nvSpPr>
          <p:cNvPr id="50" name="Rounded Rectangle 12"/>
          <p:cNvSpPr/>
          <p:nvPr/>
        </p:nvSpPr>
        <p:spPr>
          <a:xfrm>
            <a:off x="8229600" y="3657600"/>
            <a:ext cx="2971800" cy="1143000"/>
          </a:xfrm>
          <a:prstGeom prst="roundRect">
            <a:avLst/>
          </a:prstGeom>
          <a:solidFill>
            <a:srgbClr val="FFF4E6"/>
          </a:solidFill>
          <a:ln>
            <a:solidFill>
              <a:srgbClr val="D2D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ounded Rectangle 13"/>
          <p:cNvSpPr/>
          <p:nvPr/>
        </p:nvSpPr>
        <p:spPr>
          <a:xfrm>
            <a:off x="8229600" y="3657600"/>
            <a:ext cx="2971800" cy="347472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14"/>
          <p:cNvSpPr txBox="1"/>
          <p:nvPr/>
        </p:nvSpPr>
        <p:spPr>
          <a:xfrm>
            <a:off x="8394192" y="3712463"/>
            <a:ext cx="2651760" cy="228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200" b="1">
                <a:solidFill>
                  <a:srgbClr val="FFFFFF"/>
                </a:solidFill>
                <a:latin typeface="Arial"/>
              </a:defRPr>
            </a:pPr>
            <a:r>
              <a:rPr sz="1200" dirty="0">
                <a:latin typeface="Arial"/>
              </a:rPr>
              <a:t>Interpretation</a:t>
            </a:r>
            <a:endParaRPr/>
          </a:p>
        </p:txBody>
      </p:sp>
      <p:sp>
        <p:nvSpPr>
          <p:cNvPr id="53" name="TextBox 15"/>
          <p:cNvSpPr txBox="1"/>
          <p:nvPr/>
        </p:nvSpPr>
        <p:spPr>
          <a:xfrm>
            <a:off x="8430768" y="4096512"/>
            <a:ext cx="2560320" cy="5486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200" b="0">
                <a:solidFill>
                  <a:srgbClr val="111827">
                    <a:alpha val="100000"/>
                  </a:srgbClr>
                </a:solidFill>
                <a:latin typeface="Arial"/>
                <a:ea typeface="宋体"/>
                <a:cs typeface="+mn-cs"/>
              </a:defRPr>
            </a:pPr>
            <a:r>
              <a:rPr sz="1200" b="0">
                <a:latin typeface="Arial"/>
                <a:ea typeface="宋体"/>
                <a:cs typeface="+mn-cs"/>
              </a:rPr>
              <a:t>Direct LLM answers are fluent but often unsupported. RAG grounds answers in retrieved evidence.</a:t>
            </a:r>
            <a:endParaRPr/>
          </a:p>
        </p:txBody>
      </p:sp>
      <p:pic>
        <p:nvPicPr>
          <p:cNvPr id="54" name="图片 5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000" y="1325739"/>
            <a:ext cx="8015967" cy="393220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extBox 1"/>
          <p:cNvSpPr txBox="1"/>
          <p:nvPr/>
        </p:nvSpPr>
        <p:spPr>
          <a:xfrm>
            <a:off x="594360" y="320040"/>
            <a:ext cx="1088136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400" b="1">
                <a:solidFill>
                  <a:srgbClr val="111827"/>
                </a:solidFill>
                <a:latin typeface="Arial"/>
              </a:defRPr>
            </a:pPr>
            <a:r>
              <a:rPr>
                <a:latin typeface="Arial"/>
              </a:rPr>
              <a:t>Retrieval Result: Rewrite and Rerank Improve Evidence Quality</a:t>
            </a:r>
            <a:endParaRPr/>
          </a:p>
        </p:txBody>
      </p:sp>
      <p:sp>
        <p:nvSpPr>
          <p:cNvPr id="57" name="Rectangle 2"/>
          <p:cNvSpPr/>
          <p:nvPr/>
        </p:nvSpPr>
        <p:spPr>
          <a:xfrm>
            <a:off x="0" y="0"/>
            <a:ext cx="12191999" cy="73152"/>
          </a:xfrm>
          <a:prstGeom prst="rect">
            <a:avLst/>
          </a:prstGeom>
          <a:solidFill>
            <a:srgbClr val="12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ounded Rectangle 4"/>
          <p:cNvSpPr/>
          <p:nvPr/>
        </p:nvSpPr>
        <p:spPr>
          <a:xfrm>
            <a:off x="8001000" y="960120"/>
            <a:ext cx="3477633" cy="883519"/>
          </a:xfrm>
          <a:prstGeom prst="roundRect">
            <a:avLst/>
          </a:prstGeom>
          <a:solidFill>
            <a:srgbClr val="E8F2FF"/>
          </a:solidFill>
          <a:ln>
            <a:solidFill>
              <a:srgbClr val="D2D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ounded Rectangle 5"/>
          <p:cNvSpPr/>
          <p:nvPr/>
        </p:nvSpPr>
        <p:spPr>
          <a:xfrm>
            <a:off x="8001000" y="960120"/>
            <a:ext cx="3474720" cy="347472"/>
          </a:xfrm>
          <a:prstGeom prst="roundRect">
            <a:avLst/>
          </a:prstGeom>
          <a:solidFill>
            <a:srgbClr val="12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6"/>
          <p:cNvSpPr txBox="1"/>
          <p:nvPr/>
        </p:nvSpPr>
        <p:spPr>
          <a:xfrm>
            <a:off x="8165592" y="1014984"/>
            <a:ext cx="3154679" cy="228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rPr sz="1200" dirty="0">
                <a:latin typeface="Arial"/>
              </a:rPr>
              <a:t>Basic RAG</a:t>
            </a:r>
            <a:endParaRPr/>
          </a:p>
        </p:txBody>
      </p:sp>
      <p:sp>
        <p:nvSpPr>
          <p:cNvPr id="61" name="TextBox 7"/>
          <p:cNvSpPr txBox="1"/>
          <p:nvPr/>
        </p:nvSpPr>
        <p:spPr>
          <a:xfrm>
            <a:off x="8165592" y="1324156"/>
            <a:ext cx="3063239" cy="155447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000" b="0">
                <a:solidFill>
                  <a:srgbClr val="111827"/>
                </a:solidFill>
                <a:latin typeface="Arial"/>
              </a:defRPr>
            </a:pPr>
            <a:r>
              <a:rPr sz="1200" dirty="0">
                <a:latin typeface="Arial"/>
              </a:rPr>
              <a:t>R@5 86.67% | P@5 38.00%</a:t>
            </a:r>
            <a:br>
              <a:rPr sz="1200" dirty="0"/>
            </a:br>
            <a:r>
              <a:rPr sz="1200" dirty="0">
                <a:latin typeface="Arial"/>
              </a:rPr>
              <a:t>MRR 70.56% | </a:t>
            </a:r>
            <a:r>
              <a:rPr sz="1200" dirty="0" err="1">
                <a:latin typeface="Arial"/>
              </a:rPr>
              <a:t>nDCG</a:t>
            </a:r>
            <a:r>
              <a:rPr sz="1200" dirty="0">
                <a:latin typeface="Arial"/>
              </a:rPr>
              <a:t> 76.23%</a:t>
            </a:r>
            <a:endParaRPr/>
          </a:p>
        </p:txBody>
      </p:sp>
      <p:sp>
        <p:nvSpPr>
          <p:cNvPr id="62" name="Rounded Rectangle 8"/>
          <p:cNvSpPr/>
          <p:nvPr/>
        </p:nvSpPr>
        <p:spPr>
          <a:xfrm>
            <a:off x="8001000" y="1947405"/>
            <a:ext cx="3477640" cy="878092"/>
          </a:xfrm>
          <a:prstGeom prst="roundRect">
            <a:avLst/>
          </a:prstGeom>
          <a:solidFill>
            <a:srgbClr val="FFF4E6"/>
          </a:solidFill>
          <a:ln>
            <a:solidFill>
              <a:srgbClr val="D2D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ounded Rectangle 9"/>
          <p:cNvSpPr/>
          <p:nvPr/>
        </p:nvSpPr>
        <p:spPr>
          <a:xfrm>
            <a:off x="8001000" y="1947405"/>
            <a:ext cx="3474720" cy="347472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10"/>
          <p:cNvSpPr txBox="1"/>
          <p:nvPr/>
        </p:nvSpPr>
        <p:spPr>
          <a:xfrm>
            <a:off x="8165592" y="2002270"/>
            <a:ext cx="3154679" cy="228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rPr sz="1200" dirty="0">
                <a:latin typeface="Arial"/>
              </a:rPr>
              <a:t>RAG + </a:t>
            </a:r>
            <a:r>
              <a:rPr sz="1200" dirty="0" err="1">
                <a:latin typeface="Arial"/>
              </a:rPr>
              <a:t>Rerank</a:t>
            </a:r>
            <a:endParaRPr sz="1200" dirty="0">
              <a:latin typeface="Arial"/>
            </a:endParaRPr>
          </a:p>
        </p:txBody>
      </p:sp>
      <p:sp>
        <p:nvSpPr>
          <p:cNvPr id="65" name="TextBox 11"/>
          <p:cNvSpPr txBox="1"/>
          <p:nvPr/>
        </p:nvSpPr>
        <p:spPr>
          <a:xfrm>
            <a:off x="8165592" y="2294877"/>
            <a:ext cx="3063239" cy="155447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000" b="0">
                <a:solidFill>
                  <a:srgbClr val="111827"/>
                </a:solidFill>
                <a:latin typeface="Arial"/>
              </a:defRPr>
            </a:pPr>
            <a:r>
              <a:rPr sz="1200" dirty="0">
                <a:latin typeface="Arial"/>
              </a:rPr>
              <a:t>R@5 90.00% | P@5 47.33%</a:t>
            </a:r>
            <a:br>
              <a:rPr sz="1200" dirty="0"/>
            </a:br>
            <a:r>
              <a:rPr sz="1200" dirty="0">
                <a:latin typeface="Arial"/>
              </a:rPr>
              <a:t>MRR 87.33% | </a:t>
            </a:r>
            <a:r>
              <a:rPr sz="1200" dirty="0" err="1">
                <a:latin typeface="Arial"/>
              </a:rPr>
              <a:t>nDCG</a:t>
            </a:r>
            <a:r>
              <a:rPr sz="1200" dirty="0">
                <a:latin typeface="Arial"/>
              </a:rPr>
              <a:t> 88.30%</a:t>
            </a:r>
            <a:endParaRPr/>
          </a:p>
        </p:txBody>
      </p:sp>
      <p:sp>
        <p:nvSpPr>
          <p:cNvPr id="66" name="Rounded Rectangle 12"/>
          <p:cNvSpPr/>
          <p:nvPr/>
        </p:nvSpPr>
        <p:spPr>
          <a:xfrm>
            <a:off x="8003914" y="2962522"/>
            <a:ext cx="3477640" cy="878078"/>
          </a:xfrm>
          <a:prstGeom prst="roundRect">
            <a:avLst/>
          </a:prstGeom>
          <a:solidFill>
            <a:srgbClr val="E8F8EE"/>
          </a:solidFill>
          <a:ln>
            <a:solidFill>
              <a:srgbClr val="D2D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ounded Rectangle 13"/>
          <p:cNvSpPr/>
          <p:nvPr/>
        </p:nvSpPr>
        <p:spPr>
          <a:xfrm>
            <a:off x="8003914" y="2962522"/>
            <a:ext cx="3474720" cy="347472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14"/>
          <p:cNvSpPr txBox="1"/>
          <p:nvPr/>
        </p:nvSpPr>
        <p:spPr>
          <a:xfrm>
            <a:off x="8168506" y="2990649"/>
            <a:ext cx="3154679" cy="228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rPr sz="1200" dirty="0">
                <a:latin typeface="Arial"/>
              </a:rPr>
              <a:t>Rewrite + </a:t>
            </a:r>
            <a:r>
              <a:rPr sz="1200" dirty="0" err="1">
                <a:latin typeface="Arial"/>
              </a:rPr>
              <a:t>Rerank</a:t>
            </a:r>
            <a:endParaRPr sz="1200" dirty="0">
              <a:latin typeface="Arial"/>
            </a:endParaRPr>
          </a:p>
        </p:txBody>
      </p:sp>
      <p:sp>
        <p:nvSpPr>
          <p:cNvPr id="69" name="TextBox 15"/>
          <p:cNvSpPr txBox="1"/>
          <p:nvPr/>
        </p:nvSpPr>
        <p:spPr>
          <a:xfrm>
            <a:off x="8165592" y="3309994"/>
            <a:ext cx="3063239" cy="155447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000" b="0">
                <a:solidFill>
                  <a:srgbClr val="111827"/>
                </a:solidFill>
                <a:latin typeface="Arial"/>
              </a:defRPr>
            </a:pPr>
            <a:r>
              <a:rPr sz="1200" dirty="0">
                <a:latin typeface="Arial"/>
              </a:rPr>
              <a:t>R@5 96.67% | P@5 46.67%</a:t>
            </a:r>
            <a:br>
              <a:rPr sz="1200" dirty="0"/>
            </a:br>
            <a:r>
              <a:rPr sz="1200" dirty="0">
                <a:latin typeface="Arial"/>
              </a:rPr>
              <a:t>MRR 94.44% | </a:t>
            </a:r>
            <a:r>
              <a:rPr sz="1200" dirty="0" err="1">
                <a:latin typeface="Arial"/>
              </a:rPr>
              <a:t>nDCG</a:t>
            </a:r>
            <a:r>
              <a:rPr sz="1200" dirty="0">
                <a:latin typeface="Arial"/>
              </a:rPr>
              <a:t> 95.86%</a:t>
            </a:r>
            <a:endParaRPr/>
          </a:p>
        </p:txBody>
      </p:sp>
      <p:sp>
        <p:nvSpPr>
          <p:cNvPr id="70" name="Rounded Rectangle 16"/>
          <p:cNvSpPr/>
          <p:nvPr/>
        </p:nvSpPr>
        <p:spPr>
          <a:xfrm>
            <a:off x="7983968" y="4069079"/>
            <a:ext cx="3474720" cy="822960"/>
          </a:xfrm>
          <a:prstGeom prst="roundRect">
            <a:avLst/>
          </a:prstGeom>
          <a:solidFill>
            <a:srgbClr val="F2EBFF"/>
          </a:solidFill>
          <a:ln>
            <a:solidFill>
              <a:srgbClr val="D2D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Rounded Rectangle 17"/>
          <p:cNvSpPr/>
          <p:nvPr/>
        </p:nvSpPr>
        <p:spPr>
          <a:xfrm>
            <a:off x="8001000" y="3977639"/>
            <a:ext cx="3474720" cy="347472"/>
          </a:xfrm>
          <a:prstGeom prst="roundRect">
            <a:avLst/>
          </a:prstGeom>
          <a:solidFill>
            <a:srgbClr val="7A51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18"/>
          <p:cNvSpPr txBox="1"/>
          <p:nvPr/>
        </p:nvSpPr>
        <p:spPr>
          <a:xfrm>
            <a:off x="8165592" y="4032503"/>
            <a:ext cx="3154679" cy="228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rPr sz="1200" dirty="0">
                <a:latin typeface="Arial"/>
              </a:rPr>
              <a:t>Takeaway</a:t>
            </a:r>
            <a:endParaRPr/>
          </a:p>
        </p:txBody>
      </p:sp>
      <p:sp>
        <p:nvSpPr>
          <p:cNvPr id="73" name="TextBox 19"/>
          <p:cNvSpPr txBox="1"/>
          <p:nvPr/>
        </p:nvSpPr>
        <p:spPr>
          <a:xfrm>
            <a:off x="8189708" y="4366259"/>
            <a:ext cx="3063239" cy="228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000" b="0">
                <a:solidFill>
                  <a:srgbClr val="111827"/>
                </a:solidFill>
                <a:latin typeface="Arial"/>
              </a:defRPr>
            </a:pPr>
            <a:r>
              <a:rPr sz="1200" dirty="0">
                <a:latin typeface="Arial"/>
              </a:rPr>
              <a:t>Rewrite improves recall and rank quality. Reranking improves evidence ordering.</a:t>
            </a:r>
            <a:endParaRPr/>
          </a:p>
        </p:txBody>
      </p:sp>
      <p:pic>
        <p:nvPicPr>
          <p:cNvPr id="74" name="图片 7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000" y="1198104"/>
            <a:ext cx="7797274" cy="381369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TextBox 1"/>
          <p:cNvSpPr txBox="1"/>
          <p:nvPr/>
        </p:nvSpPr>
        <p:spPr>
          <a:xfrm>
            <a:off x="594360" y="320040"/>
            <a:ext cx="1088136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400" b="1">
                <a:solidFill>
                  <a:srgbClr val="111827"/>
                </a:solidFill>
                <a:latin typeface="Arial"/>
              </a:defRPr>
            </a:pPr>
            <a:r>
              <a:rPr>
                <a:latin typeface="Arial"/>
              </a:rPr>
              <a:t>Latency Trade-off</a:t>
            </a:r>
            <a:endParaRPr/>
          </a:p>
        </p:txBody>
      </p:sp>
      <p:sp>
        <p:nvSpPr>
          <p:cNvPr id="77" name="Rectangle 2"/>
          <p:cNvSpPr/>
          <p:nvPr/>
        </p:nvSpPr>
        <p:spPr>
          <a:xfrm>
            <a:off x="0" y="0"/>
            <a:ext cx="12191999" cy="73152"/>
          </a:xfrm>
          <a:prstGeom prst="rect">
            <a:avLst/>
          </a:prstGeom>
          <a:solidFill>
            <a:srgbClr val="12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Rounded Rectangle 4"/>
          <p:cNvSpPr/>
          <p:nvPr/>
        </p:nvSpPr>
        <p:spPr>
          <a:xfrm>
            <a:off x="8001000" y="1051560"/>
            <a:ext cx="3474720" cy="777240"/>
          </a:xfrm>
          <a:prstGeom prst="roundRect">
            <a:avLst/>
          </a:prstGeom>
          <a:solidFill>
            <a:srgbClr val="E8F8EE"/>
          </a:solidFill>
          <a:ln>
            <a:solidFill>
              <a:srgbClr val="D2D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Rounded Rectangle 5"/>
          <p:cNvSpPr/>
          <p:nvPr/>
        </p:nvSpPr>
        <p:spPr>
          <a:xfrm>
            <a:off x="8001000" y="1051560"/>
            <a:ext cx="3474720" cy="347472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6"/>
          <p:cNvSpPr txBox="1"/>
          <p:nvPr/>
        </p:nvSpPr>
        <p:spPr>
          <a:xfrm>
            <a:off x="8165592" y="1106424"/>
            <a:ext cx="3154679" cy="228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200" b="1">
                <a:solidFill>
                  <a:srgbClr val="FFFFFF"/>
                </a:solidFill>
                <a:latin typeface="Arial"/>
              </a:defRPr>
            </a:pPr>
            <a:r>
              <a:rPr sz="1200" dirty="0">
                <a:latin typeface="Arial"/>
              </a:rPr>
              <a:t>Fastest RAG</a:t>
            </a:r>
            <a:endParaRPr/>
          </a:p>
        </p:txBody>
      </p:sp>
      <p:sp>
        <p:nvSpPr>
          <p:cNvPr id="81" name="TextBox 7"/>
          <p:cNvSpPr txBox="1"/>
          <p:nvPr/>
        </p:nvSpPr>
        <p:spPr>
          <a:xfrm>
            <a:off x="8001000" y="1440180"/>
            <a:ext cx="3063239" cy="182879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200" b="0">
                <a:solidFill>
                  <a:srgbClr val="111827"/>
                </a:solidFill>
                <a:latin typeface="Arial"/>
              </a:defRPr>
            </a:pPr>
            <a:r>
              <a:rPr sz="1200" dirty="0">
                <a:latin typeface="Arial"/>
              </a:rPr>
              <a:t>Basic RAG: 3.18 s average latency</a:t>
            </a:r>
            <a:endParaRPr/>
          </a:p>
        </p:txBody>
      </p:sp>
      <p:sp>
        <p:nvSpPr>
          <p:cNvPr id="82" name="Rounded Rectangle 8"/>
          <p:cNvSpPr/>
          <p:nvPr/>
        </p:nvSpPr>
        <p:spPr>
          <a:xfrm>
            <a:off x="8001000" y="2011680"/>
            <a:ext cx="3474720" cy="777240"/>
          </a:xfrm>
          <a:prstGeom prst="roundRect">
            <a:avLst/>
          </a:prstGeom>
          <a:solidFill>
            <a:srgbClr val="FFF4E6"/>
          </a:solidFill>
          <a:ln>
            <a:solidFill>
              <a:srgbClr val="D2D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Rounded Rectangle 9"/>
          <p:cNvSpPr/>
          <p:nvPr/>
        </p:nvSpPr>
        <p:spPr>
          <a:xfrm>
            <a:off x="8001000" y="2011680"/>
            <a:ext cx="3474720" cy="347472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10"/>
          <p:cNvSpPr txBox="1"/>
          <p:nvPr/>
        </p:nvSpPr>
        <p:spPr>
          <a:xfrm>
            <a:off x="8165592" y="2066544"/>
            <a:ext cx="3154679" cy="228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200" b="1">
                <a:solidFill>
                  <a:srgbClr val="FFFFFF"/>
                </a:solidFill>
                <a:latin typeface="Arial"/>
              </a:defRPr>
            </a:pPr>
            <a:r>
              <a:rPr sz="1200" dirty="0">
                <a:latin typeface="Arial"/>
              </a:rPr>
              <a:t>Higher quality cost</a:t>
            </a:r>
            <a:endParaRPr/>
          </a:p>
        </p:txBody>
      </p:sp>
      <p:sp>
        <p:nvSpPr>
          <p:cNvPr id="85" name="TextBox 11"/>
          <p:cNvSpPr txBox="1"/>
          <p:nvPr/>
        </p:nvSpPr>
        <p:spPr>
          <a:xfrm>
            <a:off x="8001000" y="2400300"/>
            <a:ext cx="3063239" cy="182879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200" dirty="0">
                <a:latin typeface="Arial"/>
              </a:rPr>
              <a:t>Reranking adds CPU cost.</a:t>
            </a:r>
            <a:endParaRPr/>
          </a:p>
        </p:txBody>
      </p:sp>
      <p:sp>
        <p:nvSpPr>
          <p:cNvPr id="86" name="Rounded Rectangle 12"/>
          <p:cNvSpPr/>
          <p:nvPr/>
        </p:nvSpPr>
        <p:spPr>
          <a:xfrm>
            <a:off x="8001000" y="2971800"/>
            <a:ext cx="3474720" cy="777240"/>
          </a:xfrm>
          <a:prstGeom prst="roundRect">
            <a:avLst/>
          </a:prstGeom>
          <a:solidFill>
            <a:srgbClr val="F2EBFF"/>
          </a:solidFill>
          <a:ln>
            <a:solidFill>
              <a:srgbClr val="D2D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Rounded Rectangle 13"/>
          <p:cNvSpPr/>
          <p:nvPr/>
        </p:nvSpPr>
        <p:spPr>
          <a:xfrm>
            <a:off x="8001000" y="2971800"/>
            <a:ext cx="3474720" cy="347472"/>
          </a:xfrm>
          <a:prstGeom prst="roundRect">
            <a:avLst/>
          </a:prstGeom>
          <a:solidFill>
            <a:srgbClr val="7A51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14"/>
          <p:cNvSpPr txBox="1"/>
          <p:nvPr/>
        </p:nvSpPr>
        <p:spPr>
          <a:xfrm>
            <a:off x="8165592" y="3026664"/>
            <a:ext cx="3154679" cy="228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200" b="1">
                <a:solidFill>
                  <a:srgbClr val="FFFFFF"/>
                </a:solidFill>
                <a:latin typeface="Arial"/>
              </a:defRPr>
            </a:pPr>
            <a:r>
              <a:rPr sz="1200" dirty="0">
                <a:latin typeface="Arial"/>
              </a:rPr>
              <a:t>Best retrieval</a:t>
            </a:r>
            <a:endParaRPr/>
          </a:p>
        </p:txBody>
      </p:sp>
      <p:sp>
        <p:nvSpPr>
          <p:cNvPr id="89" name="TextBox 15"/>
          <p:cNvSpPr txBox="1"/>
          <p:nvPr/>
        </p:nvSpPr>
        <p:spPr>
          <a:xfrm>
            <a:off x="8001000" y="3392423"/>
            <a:ext cx="3063239" cy="182879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200" b="0">
                <a:solidFill>
                  <a:srgbClr val="111827"/>
                </a:solidFill>
                <a:latin typeface="Arial"/>
              </a:defRPr>
            </a:pPr>
            <a:r>
              <a:rPr sz="1200" dirty="0">
                <a:latin typeface="Arial"/>
              </a:rPr>
              <a:t>Rewrite + </a:t>
            </a:r>
            <a:r>
              <a:rPr sz="1200" dirty="0" err="1">
                <a:latin typeface="Arial"/>
              </a:rPr>
              <a:t>Rerank</a:t>
            </a:r>
            <a:r>
              <a:rPr sz="1200" dirty="0">
                <a:latin typeface="Arial"/>
              </a:rPr>
              <a:t>: 10.82 s average latency</a:t>
            </a:r>
            <a:endParaRPr/>
          </a:p>
        </p:txBody>
      </p:sp>
      <p:sp>
        <p:nvSpPr>
          <p:cNvPr id="90" name="Rounded Rectangle 16"/>
          <p:cNvSpPr/>
          <p:nvPr/>
        </p:nvSpPr>
        <p:spPr>
          <a:xfrm>
            <a:off x="8001000" y="4069080"/>
            <a:ext cx="3474720" cy="731520"/>
          </a:xfrm>
          <a:prstGeom prst="roundRect">
            <a:avLst/>
          </a:prstGeom>
          <a:solidFill>
            <a:srgbClr val="E8F2FF"/>
          </a:solidFill>
          <a:ln>
            <a:solidFill>
              <a:srgbClr val="D2D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Rounded Rectangle 17"/>
          <p:cNvSpPr/>
          <p:nvPr/>
        </p:nvSpPr>
        <p:spPr>
          <a:xfrm>
            <a:off x="8001000" y="4069080"/>
            <a:ext cx="3474720" cy="347472"/>
          </a:xfrm>
          <a:prstGeom prst="roundRect">
            <a:avLst/>
          </a:prstGeom>
          <a:solidFill>
            <a:srgbClr val="12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18"/>
          <p:cNvSpPr txBox="1"/>
          <p:nvPr/>
        </p:nvSpPr>
        <p:spPr>
          <a:xfrm>
            <a:off x="8165592" y="4123944"/>
            <a:ext cx="3154679" cy="228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200" b="1">
                <a:solidFill>
                  <a:srgbClr val="FFFFFF"/>
                </a:solidFill>
                <a:latin typeface="Arial"/>
              </a:defRPr>
            </a:pPr>
            <a:r>
              <a:rPr sz="1200" dirty="0">
                <a:latin typeface="Arial"/>
              </a:rPr>
              <a:t>Practical choice</a:t>
            </a:r>
            <a:endParaRPr/>
          </a:p>
        </p:txBody>
      </p:sp>
      <p:sp>
        <p:nvSpPr>
          <p:cNvPr id="93" name="TextBox 19"/>
          <p:cNvSpPr txBox="1"/>
          <p:nvPr/>
        </p:nvSpPr>
        <p:spPr>
          <a:xfrm>
            <a:off x="8001000" y="4434840"/>
            <a:ext cx="3867382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100" dirty="0">
                <a:latin typeface="Arial"/>
              </a:rPr>
              <a:t>Basic RAG for speed. Rewrite + </a:t>
            </a:r>
            <a:r>
              <a:rPr sz="1100" dirty="0" err="1">
                <a:latin typeface="Arial"/>
              </a:rPr>
              <a:t>Rerank</a:t>
            </a:r>
            <a:r>
              <a:rPr sz="1100" dirty="0">
                <a:latin typeface="Arial"/>
              </a:rPr>
              <a:t> for reliability.</a:t>
            </a:r>
            <a:endParaRPr/>
          </a:p>
        </p:txBody>
      </p:sp>
      <p:pic>
        <p:nvPicPr>
          <p:cNvPr id="94" name="图片 9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889" y="1106424"/>
            <a:ext cx="7585038" cy="3907443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矩形 6"/>
          <p:cNvSpPr/>
          <p:nvPr/>
        </p:nvSpPr>
        <p:spPr>
          <a:xfrm>
            <a:off x="6096635" y="-10160"/>
            <a:ext cx="6111875" cy="6868160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7" name="椭圆 7"/>
          <p:cNvSpPr/>
          <p:nvPr/>
        </p:nvSpPr>
        <p:spPr>
          <a:xfrm>
            <a:off x="3783330" y="1099503"/>
            <a:ext cx="4707255" cy="46482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 useBgFill="1">
        <p:nvSpPr>
          <p:cNvPr id="98" name="椭圆 8"/>
          <p:cNvSpPr/>
          <p:nvPr/>
        </p:nvSpPr>
        <p:spPr>
          <a:xfrm rot="7380000">
            <a:off x="4055428" y="1367790"/>
            <a:ext cx="4163060" cy="4111625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 useBgFill="1">
        <p:nvSpPr>
          <p:cNvPr id="99" name="椭圆 9"/>
          <p:cNvSpPr/>
          <p:nvPr/>
        </p:nvSpPr>
        <p:spPr>
          <a:xfrm rot="13320000">
            <a:off x="4367213" y="1675448"/>
            <a:ext cx="3539490" cy="349631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 useBgFill="1">
        <p:nvSpPr>
          <p:cNvPr id="100" name="椭圆 10"/>
          <p:cNvSpPr/>
          <p:nvPr/>
        </p:nvSpPr>
        <p:spPr>
          <a:xfrm rot="7500000">
            <a:off x="4636453" y="1941195"/>
            <a:ext cx="3001010" cy="2964815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1" name="矩形 3"/>
          <p:cNvSpPr/>
          <p:nvPr/>
        </p:nvSpPr>
        <p:spPr>
          <a:xfrm>
            <a:off x="-15240" y="-10160"/>
            <a:ext cx="12223749" cy="68681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102" name="文本框 101"/>
          <p:cNvSpPr txBox="1"/>
          <p:nvPr/>
        </p:nvSpPr>
        <p:spPr>
          <a:xfrm>
            <a:off x="2194530" y="2730500"/>
            <a:ext cx="7884855" cy="698500"/>
          </a:xfrm>
          <a:prstGeom prst="rect">
            <a:avLst/>
          </a:prstGeom>
        </p:spPr>
        <p:txBody>
          <a:bodyPr>
            <a:spAutoFit/>
          </a:bodyPr>
          <a:lstStyle/>
          <a:p>
            <a:pPr lvl="0" algn="ctr">
              <a:defRPr sz="2400" b="1">
                <a:solidFill>
                  <a:srgbClr val="111827">
                    <a:alpha val="100000"/>
                  </a:srgbClr>
                </a:solidFill>
                <a:latin typeface="Arial"/>
                <a:ea typeface="宋体"/>
                <a:cs typeface="+mn-cs"/>
              </a:defRPr>
            </a:pPr>
            <a:r>
              <a:rPr sz="4000" b="1">
                <a:latin typeface="Arial"/>
                <a:ea typeface="宋体"/>
                <a:cs typeface="+mn-cs"/>
              </a:rPr>
              <a:t>Limitations and Future Work</a:t>
            </a:r>
            <a:endParaRPr sz="2400" b="1">
              <a:solidFill>
                <a:srgbClr val="111827">
                  <a:alpha val="100000"/>
                </a:srgbClr>
              </a:solidFill>
              <a:latin typeface="Arial"/>
              <a:ea typeface="宋体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矩形 6"/>
          <p:cNvSpPr/>
          <p:nvPr/>
        </p:nvSpPr>
        <p:spPr>
          <a:xfrm>
            <a:off x="6096635" y="-10160"/>
            <a:ext cx="6111875" cy="6868160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5" name="矩形 3"/>
          <p:cNvSpPr/>
          <p:nvPr/>
        </p:nvSpPr>
        <p:spPr>
          <a:xfrm>
            <a:off x="-15240" y="-10160"/>
            <a:ext cx="6111875" cy="68681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106" name="椭圆 7"/>
          <p:cNvSpPr/>
          <p:nvPr/>
        </p:nvSpPr>
        <p:spPr>
          <a:xfrm>
            <a:off x="3783330" y="1099503"/>
            <a:ext cx="4707255" cy="46482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 useBgFill="1">
        <p:nvSpPr>
          <p:cNvPr id="107" name="椭圆 8"/>
          <p:cNvSpPr/>
          <p:nvPr/>
        </p:nvSpPr>
        <p:spPr>
          <a:xfrm rot="5940000">
            <a:off x="4055428" y="1367790"/>
            <a:ext cx="4163060" cy="4111625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 useBgFill="1">
        <p:nvSpPr>
          <p:cNvPr id="108" name="椭圆 9"/>
          <p:cNvSpPr/>
          <p:nvPr/>
        </p:nvSpPr>
        <p:spPr>
          <a:xfrm rot="12180000">
            <a:off x="4367213" y="1675448"/>
            <a:ext cx="3539490" cy="349631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 useBgFill="1">
        <p:nvSpPr>
          <p:cNvPr id="109" name="椭圆 10"/>
          <p:cNvSpPr/>
          <p:nvPr/>
        </p:nvSpPr>
        <p:spPr>
          <a:xfrm rot="11640000">
            <a:off x="4636453" y="1941195"/>
            <a:ext cx="3001010" cy="2964815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0" name="文本框 1"/>
          <p:cNvSpPr txBox="1"/>
          <p:nvPr/>
        </p:nvSpPr>
        <p:spPr>
          <a:xfrm>
            <a:off x="873125" y="388620"/>
            <a:ext cx="4919345" cy="734060"/>
          </a:xfrm>
          <a:prstGeom prst="rect">
            <a:avLst/>
          </a:prstGeo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altLang="zh-CN" sz="3600" b="1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Arial" panose="020B0604020202020204"/>
                <a:cs typeface="+mj-lt"/>
              </a:rPr>
              <a:t>Current limitations</a:t>
            </a:r>
          </a:p>
        </p:txBody>
      </p:sp>
      <p:sp>
        <p:nvSpPr>
          <p:cNvPr id="111" name="文本框 2"/>
          <p:cNvSpPr txBox="1"/>
          <p:nvPr/>
        </p:nvSpPr>
        <p:spPr>
          <a:xfrm>
            <a:off x="7215505" y="388620"/>
            <a:ext cx="4426585" cy="734060"/>
          </a:xfrm>
          <a:prstGeom prst="rect">
            <a:avLst/>
          </a:prstGeo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altLang="zh-CN" sz="3600" b="1">
                <a:ln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Arial" panose="020B0604020202020204"/>
                <a:cs typeface="+mj-lt"/>
              </a:rPr>
              <a:t>Future improvements</a:t>
            </a:r>
          </a:p>
        </p:txBody>
      </p:sp>
      <p:cxnSp>
        <p:nvCxnSpPr>
          <p:cNvPr id="112" name="直接连接符 4"/>
          <p:cNvCxnSpPr/>
          <p:nvPr/>
        </p:nvCxnSpPr>
        <p:spPr>
          <a:xfrm>
            <a:off x="676910" y="1146175"/>
            <a:ext cx="4420235" cy="11430"/>
          </a:xfrm>
          <a:prstGeom prst="line">
            <a:avLst/>
          </a:prstGeom>
          <a:ln w="31750" cap="rnd">
            <a:solidFill>
              <a:prstClr val="black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13" name="直接连接符 5"/>
          <p:cNvCxnSpPr/>
          <p:nvPr/>
        </p:nvCxnSpPr>
        <p:spPr>
          <a:xfrm>
            <a:off x="7221855" y="1157605"/>
            <a:ext cx="4420235" cy="11430"/>
          </a:xfrm>
          <a:prstGeom prst="line">
            <a:avLst/>
          </a:prstGeom>
          <a:ln w="31750" cap="rnd">
            <a:solidFill>
              <a:schemeClr val="bg1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14" name="文本框 11"/>
          <p:cNvSpPr txBox="1"/>
          <p:nvPr/>
        </p:nvSpPr>
        <p:spPr>
          <a:xfrm>
            <a:off x="516255" y="1249680"/>
            <a:ext cx="3806190" cy="4784090"/>
          </a:xfrm>
          <a:prstGeom prst="rect">
            <a:avLst/>
          </a:prstGeo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altLang="zh-CN" sz="240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Arial" panose="020B0604020202020204"/>
                <a:cs typeface="+mn-lt"/>
              </a:rPr>
              <a:t>only </a:t>
            </a:r>
            <a:r>
              <a:rPr lang="en-US" altLang="zh-CN" sz="2400" b="1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Arial" panose="020B0604020202020204"/>
                <a:cs typeface="+mn-lt"/>
              </a:rPr>
              <a:t>30</a:t>
            </a:r>
            <a:r>
              <a:rPr lang="en-US" altLang="zh-CN" sz="240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Arial" panose="020B0604020202020204"/>
                <a:cs typeface="+mn-lt"/>
              </a:rPr>
              <a:t> evaluation questions</a:t>
            </a:r>
          </a:p>
          <a:p>
            <a:pPr>
              <a:lnSpc>
                <a:spcPct val="100000"/>
              </a:lnSpc>
            </a:pPr>
            <a:endParaRPr lang="en-US" altLang="zh-CN" sz="240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ea typeface="Arial" panose="020B0604020202020204"/>
              <a:cs typeface="+mn-lt"/>
            </a:endParaRPr>
          </a:p>
          <a:p>
            <a:pPr>
              <a:lnSpc>
                <a:spcPct val="100000"/>
              </a:lnSpc>
            </a:pPr>
            <a:r>
              <a:rPr lang="en-US" altLang="zh-CN" sz="240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Arial" panose="020B0604020202020204"/>
                <a:cs typeface="+mn-lt"/>
              </a:rPr>
              <a:t>LLM-as-a-judge may introduce scoring variance </a:t>
            </a:r>
          </a:p>
          <a:p>
            <a:pPr>
              <a:lnSpc>
                <a:spcPct val="100000"/>
              </a:lnSpc>
            </a:pPr>
            <a:endParaRPr lang="en-US" altLang="zh-CN" sz="240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ea typeface="Arial" panose="020B0604020202020204"/>
              <a:cs typeface="+mn-lt"/>
            </a:endParaRPr>
          </a:p>
          <a:p>
            <a:pPr>
              <a:lnSpc>
                <a:spcPct val="100000"/>
              </a:lnSpc>
            </a:pPr>
            <a:r>
              <a:rPr lang="en-US" altLang="zh-CN" sz="240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Arial" panose="020B0604020202020204"/>
                <a:cs typeface="+mn-lt"/>
              </a:rPr>
              <a:t>limited unanswerable-question coverage</a:t>
            </a:r>
          </a:p>
          <a:p>
            <a:pPr>
              <a:lnSpc>
                <a:spcPct val="100000"/>
              </a:lnSpc>
            </a:pPr>
            <a:endParaRPr lang="en-US" altLang="zh-CN" sz="240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ea typeface="Arial" panose="020B0604020202020204"/>
              <a:cs typeface="+mn-lt"/>
            </a:endParaRPr>
          </a:p>
          <a:p>
            <a:pPr>
              <a:lnSpc>
                <a:spcPct val="100000"/>
              </a:lnSpc>
            </a:pPr>
            <a:r>
              <a:rPr lang="en-US" altLang="zh-CN" sz="240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Arial" panose="020B0604020202020204"/>
                <a:cs typeface="+mn-lt"/>
              </a:rPr>
              <a:t>rewrite and rerank</a:t>
            </a:r>
          </a:p>
          <a:p>
            <a:pPr>
              <a:lnSpc>
                <a:spcPct val="100000"/>
              </a:lnSpc>
            </a:pPr>
            <a:r>
              <a:rPr lang="en-US" altLang="zh-CN" sz="240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Arial" panose="020B0604020202020204"/>
                <a:cs typeface="+mn-lt"/>
              </a:rPr>
              <a:t>increase latency</a:t>
            </a:r>
          </a:p>
          <a:p>
            <a:pPr>
              <a:lnSpc>
                <a:spcPct val="100000"/>
              </a:lnSpc>
            </a:pPr>
            <a:endParaRPr lang="en-US" altLang="zh-CN" sz="240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ea typeface="Arial" panose="020B0604020202020204"/>
              <a:cs typeface="+mn-lt"/>
            </a:endParaRPr>
          </a:p>
          <a:p>
            <a:pPr>
              <a:lnSpc>
                <a:spcPct val="100000"/>
              </a:lnSpc>
            </a:pPr>
            <a:r>
              <a:rPr lang="en-US" altLang="zh-CN" sz="240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Arial" panose="020B0604020202020204"/>
                <a:cs typeface="+mn-lt"/>
              </a:rPr>
              <a:t>knowledge base quality limits system ceiling</a:t>
            </a:r>
          </a:p>
        </p:txBody>
      </p:sp>
      <p:sp>
        <p:nvSpPr>
          <p:cNvPr id="115" name="文本框 12"/>
          <p:cNvSpPr txBox="1"/>
          <p:nvPr/>
        </p:nvSpPr>
        <p:spPr>
          <a:xfrm>
            <a:off x="8662035" y="1402080"/>
            <a:ext cx="3141980" cy="4767580"/>
          </a:xfrm>
          <a:prstGeom prst="rect">
            <a:avLst/>
          </a:prstGeo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altLang="zh-CN" sz="2400">
                <a:ln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Arial" panose="020B0604020202020204"/>
                <a:cs typeface="+mn-lt"/>
              </a:rPr>
              <a:t>expand test set by category and difficulty</a:t>
            </a:r>
          </a:p>
          <a:p>
            <a:pPr>
              <a:lnSpc>
                <a:spcPct val="100000"/>
              </a:lnSpc>
            </a:pPr>
            <a:endParaRPr lang="en-US" altLang="zh-CN" sz="2400">
              <a:ln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ea typeface="Arial" panose="020B0604020202020204"/>
              <a:cs typeface="+mn-lt"/>
            </a:endParaRPr>
          </a:p>
          <a:p>
            <a:pPr>
              <a:lnSpc>
                <a:spcPct val="100000"/>
              </a:lnSpc>
            </a:pPr>
            <a:r>
              <a:rPr lang="en-US" altLang="zh-CN" sz="2400">
                <a:ln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Arial" panose="020B0604020202020204"/>
                <a:cs typeface="+mn-lt"/>
              </a:rPr>
              <a:t>add stronger evidence annotations</a:t>
            </a:r>
          </a:p>
          <a:p>
            <a:pPr>
              <a:lnSpc>
                <a:spcPct val="100000"/>
              </a:lnSpc>
            </a:pPr>
            <a:endParaRPr lang="en-US" altLang="zh-CN" sz="2400">
              <a:ln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ea typeface="Arial" panose="020B0604020202020204"/>
              <a:cs typeface="+mn-lt"/>
            </a:endParaRPr>
          </a:p>
          <a:p>
            <a:pPr>
              <a:lnSpc>
                <a:spcPct val="100000"/>
              </a:lnSpc>
            </a:pPr>
            <a:r>
              <a:rPr lang="en-US" altLang="zh-CN" sz="2400">
                <a:ln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Arial" panose="020B0604020202020204"/>
                <a:cs typeface="+mn-lt"/>
              </a:rPr>
              <a:t>cache rewritten queries and rerank results </a:t>
            </a:r>
          </a:p>
          <a:p>
            <a:pPr>
              <a:lnSpc>
                <a:spcPct val="100000"/>
              </a:lnSpc>
            </a:pPr>
            <a:endParaRPr lang="en-US" altLang="zh-CN" sz="2400">
              <a:ln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ea typeface="Arial" panose="020B0604020202020204"/>
              <a:cs typeface="+mn-lt"/>
            </a:endParaRPr>
          </a:p>
          <a:p>
            <a:pPr>
              <a:lnSpc>
                <a:spcPct val="100000"/>
              </a:lnSpc>
            </a:pPr>
            <a:r>
              <a:rPr lang="en-US" altLang="zh-CN" sz="2400">
                <a:ln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Arial" panose="020B0604020202020204"/>
                <a:cs typeface="+mn-lt"/>
              </a:rPr>
              <a:t>improve conflict-aware answer generation</a:t>
            </a:r>
          </a:p>
          <a:p>
            <a:pPr>
              <a:lnSpc>
                <a:spcPct val="100000"/>
              </a:lnSpc>
            </a:pPr>
            <a:endParaRPr lang="en-US" altLang="zh-CN" sz="2400">
              <a:ln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ea typeface="Arial" panose="020B0604020202020204"/>
              <a:cs typeface="+mn-lt"/>
            </a:endParaRPr>
          </a:p>
          <a:p>
            <a:pPr>
              <a:lnSpc>
                <a:spcPct val="100000"/>
              </a:lnSpc>
            </a:pPr>
            <a:r>
              <a:rPr lang="en-US" altLang="zh-CN" sz="2400">
                <a:ln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宋体" panose="02010600030101010101" pitchFamily="2" charset="-122"/>
                <a:cs typeface="+mn-lt"/>
              </a:rPr>
              <a:t>......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TextBox 1"/>
          <p:cNvSpPr txBox="1"/>
          <p:nvPr/>
        </p:nvSpPr>
        <p:spPr>
          <a:xfrm>
            <a:off x="594360" y="320040"/>
            <a:ext cx="1088136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400" b="1">
                <a:solidFill>
                  <a:srgbClr val="111827"/>
                </a:solidFill>
                <a:latin typeface="Arial"/>
              </a:defRPr>
            </a:pPr>
            <a:r>
              <a:rPr>
                <a:latin typeface="Arial"/>
              </a:rPr>
              <a:t>Conclusion</a:t>
            </a:r>
            <a:endParaRPr/>
          </a:p>
        </p:txBody>
      </p:sp>
      <p:sp>
        <p:nvSpPr>
          <p:cNvPr id="118" name="Rectangle 2"/>
          <p:cNvSpPr/>
          <p:nvPr/>
        </p:nvSpPr>
        <p:spPr>
          <a:xfrm>
            <a:off x="0" y="0"/>
            <a:ext cx="12191999" cy="73152"/>
          </a:xfrm>
          <a:prstGeom prst="rect">
            <a:avLst/>
          </a:prstGeom>
          <a:solidFill>
            <a:srgbClr val="12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Rounded Rectangle 3"/>
          <p:cNvSpPr/>
          <p:nvPr/>
        </p:nvSpPr>
        <p:spPr>
          <a:xfrm>
            <a:off x="822960" y="1143000"/>
            <a:ext cx="10546080" cy="859536"/>
          </a:xfrm>
          <a:prstGeom prst="roundRect">
            <a:avLst/>
          </a:prstGeom>
          <a:solidFill>
            <a:srgbClr val="E8F2FF"/>
          </a:solidFill>
          <a:ln>
            <a:solidFill>
              <a:srgbClr val="D2D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Rounded Rectangle 4"/>
          <p:cNvSpPr/>
          <p:nvPr/>
        </p:nvSpPr>
        <p:spPr>
          <a:xfrm>
            <a:off x="822960" y="1143000"/>
            <a:ext cx="10515600" cy="347472"/>
          </a:xfrm>
          <a:prstGeom prst="roundRect">
            <a:avLst/>
          </a:prstGeom>
          <a:solidFill>
            <a:srgbClr val="12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TextBox 5"/>
          <p:cNvSpPr txBox="1"/>
          <p:nvPr/>
        </p:nvSpPr>
        <p:spPr>
          <a:xfrm>
            <a:off x="987552" y="1197864"/>
            <a:ext cx="10195560" cy="228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400" b="1">
                <a:solidFill>
                  <a:srgbClr val="FFFFFF"/>
                </a:solidFill>
                <a:latin typeface="Arial"/>
              </a:defRPr>
            </a:pPr>
            <a:r>
              <a:rPr sz="1200" dirty="0">
                <a:latin typeface="Arial"/>
              </a:rPr>
              <a:t>Main conclusion</a:t>
            </a:r>
            <a:endParaRPr/>
          </a:p>
        </p:txBody>
      </p:sp>
      <p:sp>
        <p:nvSpPr>
          <p:cNvPr id="122" name="TextBox 6"/>
          <p:cNvSpPr txBox="1"/>
          <p:nvPr/>
        </p:nvSpPr>
        <p:spPr>
          <a:xfrm>
            <a:off x="1024128" y="1582509"/>
            <a:ext cx="10104120" cy="274319"/>
          </a:xfrm>
          <a:prstGeom prst="rect">
            <a:avLst/>
          </a:prstGeom>
          <a:noFill/>
        </p:spPr>
        <p:txBody>
          <a:bodyPr wrap="square">
            <a:normAutofit fontScale="85000" lnSpcReduction="20000"/>
          </a:bodyPr>
          <a:lstStyle/>
          <a:p>
            <a:pPr>
              <a:defRPr sz="1600" b="0">
                <a:solidFill>
                  <a:srgbClr val="111827"/>
                </a:solidFill>
                <a:latin typeface="Arial"/>
              </a:defRPr>
            </a:pPr>
            <a:r>
              <a:rPr dirty="0">
                <a:latin typeface="Arial"/>
              </a:rPr>
              <a:t>RAG is effective for </a:t>
            </a:r>
            <a:r>
              <a:rPr dirty="0" err="1">
                <a:latin typeface="Arial"/>
              </a:rPr>
              <a:t>SUSTech</a:t>
            </a:r>
            <a:r>
              <a:rPr dirty="0">
                <a:latin typeface="Arial"/>
              </a:rPr>
              <a:t>-specific campus QA because it turns local documents into explicit evidence for the LLM.</a:t>
            </a:r>
            <a:endParaRPr/>
          </a:p>
        </p:txBody>
      </p:sp>
      <p:sp>
        <p:nvSpPr>
          <p:cNvPr id="123" name="TextBox 7"/>
          <p:cNvSpPr txBox="1"/>
          <p:nvPr/>
        </p:nvSpPr>
        <p:spPr>
          <a:xfrm>
            <a:off x="1344168" y="2804479"/>
            <a:ext cx="3387919" cy="7506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2500" b="1">
                <a:solidFill>
                  <a:srgbClr val="124E78">
                    <a:alpha val="100000"/>
                  </a:srgbClr>
                </a:solidFill>
                <a:latin typeface="Arial"/>
                <a:ea typeface="宋体"/>
                <a:cs typeface="+mn-cs"/>
              </a:defRPr>
            </a:pPr>
            <a:r>
              <a:rPr>
                <a:latin typeface="Arial"/>
                <a:ea typeface="宋体"/>
                <a:cs typeface="+mn-cs"/>
              </a:rPr>
              <a:t>36.67% → 86.67%</a:t>
            </a:r>
            <a:endParaRPr/>
          </a:p>
        </p:txBody>
      </p:sp>
      <p:sp>
        <p:nvSpPr>
          <p:cNvPr id="124" name="TextBox 8"/>
          <p:cNvSpPr txBox="1"/>
          <p:nvPr/>
        </p:nvSpPr>
        <p:spPr>
          <a:xfrm>
            <a:off x="1523516" y="3663900"/>
            <a:ext cx="2655292" cy="417051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1000" b="0">
                <a:solidFill>
                  <a:srgbClr val="5C6673">
                    <a:alpha val="100000"/>
                  </a:srgbClr>
                </a:solidFill>
                <a:latin typeface="Arial"/>
                <a:ea typeface="宋体"/>
                <a:cs typeface="+mn-cs"/>
              </a:defRPr>
            </a:pPr>
            <a:r>
              <a:rPr sz="1200">
                <a:latin typeface="Arial"/>
                <a:ea typeface="宋体"/>
                <a:cs typeface="+mn-cs"/>
              </a:rPr>
              <a:t>correctness pass rate</a:t>
            </a:r>
            <a:endParaRPr/>
          </a:p>
        </p:txBody>
      </p:sp>
      <p:sp>
        <p:nvSpPr>
          <p:cNvPr id="125" name="TextBox 9"/>
          <p:cNvSpPr txBox="1"/>
          <p:nvPr/>
        </p:nvSpPr>
        <p:spPr>
          <a:xfrm>
            <a:off x="4878456" y="2777049"/>
            <a:ext cx="3387917" cy="7506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2500" b="1">
                <a:solidFill>
                  <a:srgbClr val="2E7D32">
                    <a:alpha val="100000"/>
                  </a:srgbClr>
                </a:solidFill>
                <a:latin typeface="Arial"/>
                <a:ea typeface="宋体"/>
                <a:cs typeface="+mn-cs"/>
              </a:defRPr>
            </a:pPr>
            <a:r>
              <a:rPr>
                <a:latin typeface="Arial"/>
                <a:ea typeface="宋体"/>
                <a:cs typeface="+mn-cs"/>
              </a:rPr>
              <a:t>66.67% → 0.00%</a:t>
            </a:r>
            <a:endParaRPr/>
          </a:p>
        </p:txBody>
      </p:sp>
      <p:sp>
        <p:nvSpPr>
          <p:cNvPr id="126" name="TextBox 10"/>
          <p:cNvSpPr txBox="1"/>
          <p:nvPr/>
        </p:nvSpPr>
        <p:spPr>
          <a:xfrm>
            <a:off x="5155937" y="3662575"/>
            <a:ext cx="2655292" cy="417051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1000" b="0">
                <a:solidFill>
                  <a:srgbClr val="5C6673">
                    <a:alpha val="100000"/>
                  </a:srgbClr>
                </a:solidFill>
                <a:latin typeface="Arial"/>
                <a:ea typeface="宋体"/>
                <a:cs typeface="+mn-cs"/>
              </a:defRPr>
            </a:pPr>
            <a:r>
              <a:rPr sz="1200">
                <a:latin typeface="Arial"/>
                <a:ea typeface="宋体"/>
                <a:cs typeface="+mn-cs"/>
              </a:rPr>
              <a:t>hallucination rate</a:t>
            </a:r>
            <a:endParaRPr/>
          </a:p>
        </p:txBody>
      </p:sp>
      <p:sp>
        <p:nvSpPr>
          <p:cNvPr id="127" name="TextBox 11"/>
          <p:cNvSpPr txBox="1"/>
          <p:nvPr/>
        </p:nvSpPr>
        <p:spPr>
          <a:xfrm>
            <a:off x="8472956" y="2777049"/>
            <a:ext cx="2655292" cy="7506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2500" b="1">
                <a:solidFill>
                  <a:srgbClr val="7A5195"/>
                </a:solidFill>
                <a:latin typeface="Arial"/>
              </a:defRPr>
            </a:pPr>
            <a:r>
              <a:rPr dirty="0">
                <a:latin typeface="Arial"/>
              </a:rPr>
              <a:t>96.67%</a:t>
            </a:r>
            <a:endParaRPr/>
          </a:p>
        </p:txBody>
      </p:sp>
      <p:sp>
        <p:nvSpPr>
          <p:cNvPr id="128" name="TextBox 12"/>
          <p:cNvSpPr txBox="1"/>
          <p:nvPr/>
        </p:nvSpPr>
        <p:spPr>
          <a:xfrm>
            <a:off x="8472956" y="3663900"/>
            <a:ext cx="2655292" cy="417051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1000" b="0">
                <a:solidFill>
                  <a:srgbClr val="5C6673">
                    <a:alpha val="100000"/>
                  </a:srgbClr>
                </a:solidFill>
                <a:latin typeface="Arial"/>
                <a:ea typeface="宋体"/>
                <a:cs typeface="+mn-cs"/>
              </a:defRPr>
            </a:pPr>
            <a:r>
              <a:rPr sz="1200">
                <a:latin typeface="Arial"/>
                <a:ea typeface="宋体"/>
                <a:cs typeface="+mn-cs"/>
              </a:rPr>
              <a:t>best Recall@5</a:t>
            </a:r>
            <a:endParaRPr/>
          </a:p>
        </p:txBody>
      </p:sp>
      <p:sp>
        <p:nvSpPr>
          <p:cNvPr id="129" name="Rounded Rectangle 13"/>
          <p:cNvSpPr/>
          <p:nvPr/>
        </p:nvSpPr>
        <p:spPr>
          <a:xfrm>
            <a:off x="1120140" y="4762438"/>
            <a:ext cx="9829800" cy="973838"/>
          </a:xfrm>
          <a:prstGeom prst="roundRect">
            <a:avLst/>
          </a:prstGeom>
          <a:solidFill>
            <a:srgbClr val="E8F8EE"/>
          </a:solidFill>
          <a:ln>
            <a:solidFill>
              <a:srgbClr val="D2D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0" name="Rounded Rectangle 14"/>
          <p:cNvSpPr/>
          <p:nvPr/>
        </p:nvSpPr>
        <p:spPr>
          <a:xfrm>
            <a:off x="1120140" y="4762438"/>
            <a:ext cx="9829800" cy="347472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1" name="TextBox 15"/>
          <p:cNvSpPr txBox="1"/>
          <p:nvPr/>
        </p:nvSpPr>
        <p:spPr>
          <a:xfrm>
            <a:off x="1284732" y="4817301"/>
            <a:ext cx="9509760" cy="228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rPr sz="1200" dirty="0">
                <a:latin typeface="Arial"/>
              </a:rPr>
              <a:t>Best quality setting</a:t>
            </a:r>
            <a:endParaRPr/>
          </a:p>
        </p:txBody>
      </p:sp>
      <p:sp>
        <p:nvSpPr>
          <p:cNvPr id="132" name="TextBox 16"/>
          <p:cNvSpPr txBox="1"/>
          <p:nvPr/>
        </p:nvSpPr>
        <p:spPr>
          <a:xfrm>
            <a:off x="1186401" y="5139626"/>
            <a:ext cx="9418320" cy="182879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300" b="0">
                <a:solidFill>
                  <a:srgbClr val="111827"/>
                </a:solidFill>
                <a:latin typeface="Arial"/>
              </a:defRPr>
            </a:pPr>
            <a:r>
              <a:rPr sz="1600" dirty="0">
                <a:latin typeface="Arial"/>
              </a:rPr>
              <a:t>RAG + query rewrite + </a:t>
            </a:r>
            <a:r>
              <a:rPr sz="1600" dirty="0" err="1">
                <a:latin typeface="Arial"/>
              </a:rPr>
              <a:t>rerank</a:t>
            </a:r>
            <a:r>
              <a:rPr sz="1600" dirty="0">
                <a:latin typeface="Arial"/>
              </a:rPr>
              <a:t> gives the strongest retrieval metrics; RAG + </a:t>
            </a:r>
            <a:r>
              <a:rPr sz="1600" dirty="0" err="1">
                <a:latin typeface="Arial"/>
              </a:rPr>
              <a:t>rerank</a:t>
            </a:r>
            <a:r>
              <a:rPr sz="1600" dirty="0">
                <a:latin typeface="Arial"/>
              </a:rPr>
              <a:t> gives the same final correctness with slightly lower latency.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687</Words>
  <Application>Microsoft Office PowerPoint</Application>
  <PresentationFormat>宽屏</PresentationFormat>
  <Paragraphs>126</Paragraphs>
  <Slides>15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15</vt:i4>
      </vt:variant>
    </vt:vector>
  </HeadingPairs>
  <TitlesOfParts>
    <vt:vector size="21" baseType="lpstr">
      <vt:lpstr>宋体</vt:lpstr>
      <vt:lpstr>Arial</vt:lpstr>
      <vt:lpstr>Calibri</vt:lpstr>
      <vt:lpstr>Office Theme</vt:lpstr>
      <vt:lpstr>Office 主题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宏骏 蒋</cp:lastModifiedBy>
  <cp:revision>1</cp:revision>
  <dcterms:created xsi:type="dcterms:W3CDTF">2026-06-13T21:59:50Z</dcterms:created>
  <dcterms:modified xsi:type="dcterms:W3CDTF">2026-06-13T14:07:52Z</dcterms:modified>
</cp:coreProperties>
</file>